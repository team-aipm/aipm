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4572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AIPM 관리자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26080"/>
            <a:ext cx="1005840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8A8B0"/>
                </a:solidFill>
                <a:latin typeface="맑은 고딕"/>
              </a:rPr>
              <a:t>와이어프레임 · 화면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3611880"/>
            <a:ext cx="1463040" cy="274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10058400" cy="10972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9A9AA4"/>
                </a:solidFill>
                <a:latin typeface="맑은 고딕"/>
              </a:rPr>
              <a:t>내부 운영자용 · 부모 계정과 별개의 로그인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9A9AA4"/>
                </a:solidFill>
                <a:latin typeface="맑은 고딕"/>
              </a:rPr>
              <a:t>조회 화면과 조치 화면을 분리 · 모든 조치에 사유와 감사 로그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0707A"/>
                </a:solidFill>
                <a:latin typeface="맑은 고딕"/>
              </a:rPr>
              <a:t>2026-09-03 · 초안 · 정책 확정 전이라 화면은 바뀔 수 있음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조회는 보는 화면, 관리는 손대는 화면. 섞지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264490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2644902" cy="45720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25296"/>
            <a:ext cx="237058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517904"/>
            <a:ext cx="2370582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보기만 · 개인정보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" y="1938528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38528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2286000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286000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" y="2633472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633472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" y="2980944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980944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4956048"/>
            <a:ext cx="2370582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57F3D"/>
                </a:solidFill>
                <a:latin typeface="맑은 고딕"/>
              </a:rPr>
              <a:t>지금 만들 수 있음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48990" y="1051560"/>
            <a:ext cx="264490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48990" y="1051560"/>
            <a:ext cx="2644902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5294" y="1225296"/>
            <a:ext cx="237058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5294" y="1517904"/>
            <a:ext cx="2370582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데이터를 바꾼다 · 사유 필수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5294" y="1938528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5022" y="1938528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95294" y="2286000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5022" y="2286000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5294" y="2633472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5022" y="2633472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5294" y="2980944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5022" y="2980944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5294" y="3328415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5022" y="3328415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5294" y="3675887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5022" y="3675887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5294" y="4956048"/>
            <a:ext cx="2370582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D4ED8"/>
                </a:solidFill>
                <a:latin typeface="맑은 고딕"/>
              </a:rPr>
              <a:t>일부는 정책 확정 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5060" y="1051560"/>
            <a:ext cx="264490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5060" y="1051560"/>
            <a:ext cx="2644902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1364" y="1225296"/>
            <a:ext cx="237058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응대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1364" y="1517904"/>
            <a:ext cx="2370582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고객 접점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41364" y="1938528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1092" y="1938528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41364" y="2286000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1092" y="2286000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1364" y="4956048"/>
            <a:ext cx="2370582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D4ED8"/>
                </a:solidFill>
                <a:latin typeface="맑은 고딕"/>
              </a:rPr>
              <a:t>접수 경로 결정 필요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41130" y="1051560"/>
            <a:ext cx="264490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41130" y="1051560"/>
            <a:ext cx="2644902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7434" y="1225296"/>
            <a:ext cx="237058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시스템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7434" y="1517904"/>
            <a:ext cx="2370582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어드민 자체 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7434" y="1938528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7162" y="1938528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7434" y="2286000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7162" y="2286000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87434" y="2633472"/>
            <a:ext cx="2352294" cy="29260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97162" y="2633472"/>
            <a:ext cx="2187702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7434" y="4956048"/>
            <a:ext cx="2370582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D28D9"/>
                </a:solidFill>
                <a:latin typeface="맑은 고딕"/>
              </a:rPr>
              <a:t>AdminUser 엔티티 필요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모든 쓰기 작업은 lib/services 를 거친다. DB 직접 수정 금지 (COM-005 §10)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공통 레이아웃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모든 화면이 같은 뼈대를 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" y="1627632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55064" y="4247388"/>
            <a:ext cx="237744" cy="155448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55064" y="4247388"/>
            <a:ext cx="237744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85416" y="1499616"/>
            <a:ext cx="9299448" cy="471830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85416" y="3401568"/>
            <a:ext cx="9299448" cy="9144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본문 영역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/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맑은 고딕"/>
              </a:rPr>
              <a:t>화면마다 이 안이 달라진다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18288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D4ED8"/>
                </a:solidFill>
                <a:latin typeface="맑은 고딕"/>
              </a:rPr>
              <a:t>↑ 사이드바 1.6"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85416" y="6455664"/>
            <a:ext cx="36576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D4ED8"/>
                </a:solidFill>
                <a:latin typeface="맑은 고딕"/>
              </a:rPr>
              <a:t>↑ 본문. 우측 정렬 액션은 오른쪽 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6935" y="603504"/>
            <a:ext cx="329184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D4ED8"/>
                </a:solidFill>
                <a:latin typeface="맑은 고딕"/>
              </a:rPr>
              <a:t>상단바에 현재 운영자와 권한 등급을 항상 표시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사이드바의 [잠금] 표시 = COM-007 이 확정되기 전에는 만들지 않는 화면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ADM-001 ·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매일 여는 화면. 평소와 다른 것만 위로 올린다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조회 ›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" y="1627632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55064" y="4247388"/>
            <a:ext cx="237744" cy="155448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55064" y="4247388"/>
            <a:ext cx="237744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85416" y="1499616"/>
            <a:ext cx="1325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9424" y="1499616"/>
            <a:ext cx="119786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오늘  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2736" y="1499616"/>
            <a:ext cx="27432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어제 대비 표시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85416" y="1865376"/>
            <a:ext cx="222885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95144" y="1947672"/>
            <a:ext cx="131445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회원(부모)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95144" y="2121408"/>
            <a:ext cx="2009393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맑은 고딕"/>
              </a:rPr>
              <a:t>1,204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95144" y="2468880"/>
            <a:ext cx="2009393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신규 +18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27882" y="1947672"/>
            <a:ext cx="67665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▲12%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42282" y="1865376"/>
            <a:ext cx="222885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2010" y="1947672"/>
            <a:ext cx="131445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학생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2010" y="2121408"/>
            <a:ext cx="2009393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맑은 고딕"/>
              </a:rPr>
              <a:t>1,533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52010" y="2468880"/>
            <a:ext cx="2009393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신규 +23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4748" y="1947672"/>
            <a:ext cx="67665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▲9%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99148" y="1865376"/>
            <a:ext cx="222885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08876" y="1947672"/>
            <a:ext cx="131445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DAU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08876" y="2121408"/>
            <a:ext cx="2009393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맑은 고딕"/>
              </a:rPr>
              <a:t>312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08876" y="2468880"/>
            <a:ext cx="2009393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WAU 889 · MAU 1,402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1614" y="1947672"/>
            <a:ext cx="67665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▲4%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56014" y="1865376"/>
            <a:ext cx="222885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65742" y="1947672"/>
            <a:ext cx="131445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MRR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65742" y="2121408"/>
            <a:ext cx="2009393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맑은 고딕"/>
              </a:rPr>
              <a:t>₩4.6M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65742" y="2468880"/>
            <a:ext cx="2009393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신규 결제 +12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1947672"/>
            <a:ext cx="67665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▲7%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85416" y="2871216"/>
            <a:ext cx="45857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85416" y="2871216"/>
            <a:ext cx="4585716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76856" y="287121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오늘 학습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13432" y="3218688"/>
            <a:ext cx="268440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세션 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11242" y="3218688"/>
            <a:ext cx="1731873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412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13432" y="3429000"/>
            <a:ext cx="268440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완료 문제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11242" y="3429000"/>
            <a:ext cx="1731873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2,984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13432" y="3639312"/>
            <a:ext cx="268440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평균 문제 / 세션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11242" y="3639312"/>
            <a:ext cx="1731873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7.2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13432" y="3849624"/>
            <a:ext cx="268440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needs_review 비율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11242" y="3849624"/>
            <a:ext cx="1731873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18.3%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13432" y="4059936"/>
            <a:ext cx="268440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중단 세션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11242" y="4059936"/>
            <a:ext cx="1731873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27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99147" y="2871216"/>
            <a:ext cx="45857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899147" y="2871216"/>
            <a:ext cx="4585716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90587" y="287121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전환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27164" y="3218688"/>
            <a:ext cx="268440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무료체험 중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24974" y="3218688"/>
            <a:ext cx="1731873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188명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27164" y="3429000"/>
            <a:ext cx="268440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오늘 체험 종료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24974" y="3429000"/>
            <a:ext cx="1731873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14명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27164" y="3639312"/>
            <a:ext cx="268440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체험 → 결제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24974" y="3639312"/>
            <a:ext cx="1731873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31.4%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27164" y="3849624"/>
            <a:ext cx="268440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해지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24974" y="3849624"/>
            <a:ext cx="1731873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6명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27164" y="4059936"/>
            <a:ext cx="268440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유예 중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24974" y="4059936"/>
            <a:ext cx="1731873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3명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85416" y="4407408"/>
            <a:ext cx="929944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185416" y="4407408"/>
            <a:ext cx="929944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76856" y="4407408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지금 봐야 할 것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44383" y="4407408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평소 대비 튀는 것만 올라온다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95144" y="4773168"/>
            <a:ext cx="907999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295144" y="4773168"/>
            <a:ext cx="45720" cy="23774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459736" y="4773168"/>
            <a:ext cx="292608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1C1C"/>
                </a:solidFill>
                <a:latin typeface="맑은 고딕"/>
              </a:rPr>
              <a:t>AI 검증 실패 급증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31536" y="4773168"/>
            <a:ext cx="36576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오늘 42건 · 평소 8건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524744" y="4791455"/>
            <a:ext cx="777240" cy="201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24744" y="4791455"/>
            <a:ext cx="7772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보기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95144" y="5047488"/>
            <a:ext cx="907999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295144" y="5047488"/>
            <a:ext cx="45720" cy="2377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459736" y="5047488"/>
            <a:ext cx="292608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맑은 고딕"/>
              </a:rPr>
              <a:t>미답변 CS 문의 5건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31536" y="5047488"/>
            <a:ext cx="36576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최장 대기 2일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524744" y="5065775"/>
            <a:ext cx="777240" cy="201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524744" y="5065775"/>
            <a:ext cx="7772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보기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95144" y="5321807"/>
            <a:ext cx="907999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295144" y="5321807"/>
            <a:ext cx="45720" cy="2377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459736" y="5321807"/>
            <a:ext cx="292608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맑은 고딕"/>
              </a:rPr>
              <a:t>OCR 인식 실패율 21%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31536" y="5321807"/>
            <a:ext cx="36576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평소 9%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524744" y="5340095"/>
            <a:ext cx="777240" cy="201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524744" y="5340095"/>
            <a:ext cx="7772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보기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숫자만 늘어놓으면 아무도 안 본다. 맨 아래 알림 블록이 이 화면을 매일 열게 만든다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ADM-002 · 퍼널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이 제품의 퍼널은 세 토막이다. 하나로 그리면 안 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조회 › 퍼널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" y="1842516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1499616"/>
            <a:ext cx="1554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9424" y="1499616"/>
            <a:ext cx="142646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최근 30일  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31336" y="1499616"/>
            <a:ext cx="1371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95344" y="1499616"/>
            <a:ext cx="124358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전체  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1499616"/>
            <a:ext cx="310896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단계를 누르면 그 단계에서 멈춘 사용자 목록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85416" y="1865376"/>
            <a:ext cx="9299448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85416" y="1865376"/>
            <a:ext cx="929944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76856" y="186537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가입 퍼널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13432" y="2212848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방문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9352" y="2212848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8,420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72584" y="2269540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72584" y="2269540"/>
            <a:ext cx="4882896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28632" y="2212848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100.0%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13432" y="2427732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회원가입 완료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59352" y="2427732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1,204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72584" y="2484424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72584" y="2484424"/>
            <a:ext cx="698254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28632" y="2427732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14.3%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59568" y="2427732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14.3%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13432" y="2642615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첫 학생 등록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59352" y="2642615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982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72584" y="2699308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72584" y="2699308"/>
            <a:ext cx="571298" cy="1005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28632" y="2642615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11.7%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59568" y="2642615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↓18.4%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2857499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Persona 선택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59352" y="2857499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961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72584" y="2914192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672584" y="2914192"/>
            <a:ext cx="556650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28632" y="2857499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11.4%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59568" y="2857499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↓2.1%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13432" y="3072383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첫 학습 시작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59352" y="3072383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744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72584" y="3129076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672584" y="3129076"/>
            <a:ext cx="429694" cy="10058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28632" y="3072383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8.8%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59568" y="3072383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↓22.6%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72584" y="3268979"/>
            <a:ext cx="630021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D4ED8"/>
                </a:solidFill>
                <a:latin typeface="맑은 고딕"/>
              </a:rPr>
              <a:t>여기서 무료체험 14일이 시작된다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85416" y="3383280"/>
            <a:ext cx="929944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85416" y="3383280"/>
            <a:ext cx="929944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76856" y="3383280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학습 퍼널 (첫 세션)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44383" y="3383280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이 제품만의 퍼널. 되묻기 몇 회차에서 나가는가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13432" y="3712463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첫 문제 출제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59352" y="3712463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744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72584" y="3769156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672584" y="3769156"/>
            <a:ext cx="4882896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28632" y="3712463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100.0%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13432" y="3927348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첫 답변 제출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59352" y="3927348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702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72584" y="3984040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672584" y="3984040"/>
            <a:ext cx="4609453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28632" y="3927348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94.4%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59568" y="3927348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94.4%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13432" y="4142232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Drill-down 1회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59352" y="4142232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688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72584" y="4198924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72584" y="4198924"/>
            <a:ext cx="4516678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28632" y="4142232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92.5%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59568" y="4142232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98.0%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13432" y="4357116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Drill-down 2회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59352" y="4357116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601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72584" y="4413808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672584" y="4413808"/>
            <a:ext cx="3945379" cy="1005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28632" y="4357116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80.8%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59568" y="4357116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↓12.6%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13432" y="4572000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Drill-down 3회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59352" y="4572000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402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72584" y="4628692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672584" y="4628692"/>
            <a:ext cx="2636763" cy="10058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28632" y="4572000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54.0%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59568" y="4572000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↓33.1%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72584" y="4768596"/>
            <a:ext cx="630021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D4ED8"/>
                </a:solidFill>
                <a:latin typeface="맑은 고딕"/>
              </a:rPr>
              <a:t>최대 이탈 지점 — 질문이 집요하면 여기서 무너진다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313432" y="4786884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문제 완료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59352" y="4786884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512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72584" y="4843576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672584" y="4843576"/>
            <a:ext cx="3359432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628632" y="4786884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68.8%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59568" y="4786884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68.8%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313432" y="5001768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10문제 달성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959352" y="5001768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198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72584" y="5058460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672584" y="5058460"/>
            <a:ext cx="1298850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28632" y="5001768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26.6%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59568" y="5001768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26.6%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85416" y="5385816"/>
            <a:ext cx="929944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185416" y="5385816"/>
            <a:ext cx="929944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276856" y="538581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전환 퍼널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313432" y="5714999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체험 시작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59352" y="5714999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744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672584" y="5771692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672584" y="5771692"/>
            <a:ext cx="4882896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628632" y="5714999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100.0%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313432" y="5929883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D2 재방문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59352" y="5929883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468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72584" y="5986576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672584" y="5986576"/>
            <a:ext cx="3071341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28632" y="5929883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62.9%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59568" y="5929883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62.9%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13432" y="6144768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7일 내 3회 이상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959352" y="6144768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311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672584" y="6201460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72584" y="6201460"/>
            <a:ext cx="2041050" cy="1005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628632" y="6144768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41.8%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259568" y="6144768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41.8%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313432" y="6359652"/>
            <a:ext cx="1691640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결제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959352" y="6359652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126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672584" y="6416344"/>
            <a:ext cx="4882896" cy="100584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672584" y="6416344"/>
            <a:ext cx="825209" cy="1005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628632" y="6359652"/>
            <a:ext cx="5669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16.9%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6359652"/>
            <a:ext cx="1078992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31.3%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필터 · 학년 · Persona(friend/villain) · 유입경로 · 문제 소스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ADM-003 · 리텐션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회원 수보다 이 화면이 제품 상태를 정확히 알려준다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조회 › 리텐션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" y="1842516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1499616"/>
            <a:ext cx="222885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95144" y="1581912"/>
            <a:ext cx="131445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DAU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95144" y="1755648"/>
            <a:ext cx="2009393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맑은 고딕"/>
              </a:rPr>
              <a:t>312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95144" y="2103120"/>
            <a:ext cx="2009393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어제 299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27882" y="1581912"/>
            <a:ext cx="67665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▲4%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42282" y="1499616"/>
            <a:ext cx="222885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52010" y="1581912"/>
            <a:ext cx="131445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WAU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2010" y="1755648"/>
            <a:ext cx="2009393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맑은 고딕"/>
              </a:rPr>
              <a:t>889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52010" y="2103120"/>
            <a:ext cx="2009393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지난주 851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4748" y="1581912"/>
            <a:ext cx="67665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▲4%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99148" y="1499616"/>
            <a:ext cx="222885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08876" y="1581912"/>
            <a:ext cx="131445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MAU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08876" y="1755648"/>
            <a:ext cx="2009393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맑은 고딕"/>
              </a:rPr>
              <a:t>1,402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08876" y="2103120"/>
            <a:ext cx="2009393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지난달 1,190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1614" y="1581912"/>
            <a:ext cx="67665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▲18%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56014" y="1499616"/>
            <a:ext cx="222885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65742" y="1581912"/>
            <a:ext cx="131445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Stickiness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5742" y="1755648"/>
            <a:ext cx="2009393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맑은 고딕"/>
              </a:rPr>
              <a:t>22.3%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5742" y="2103120"/>
            <a:ext cx="2009393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DAU / MAU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1581912"/>
            <a:ext cx="67665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▼1%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85416" y="2432304"/>
            <a:ext cx="5021701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85416" y="2432304"/>
            <a:ext cx="5021701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76856" y="2432304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DAU 추이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66637" y="2432304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최근 90일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13432" y="2816352"/>
            <a:ext cx="4765669" cy="146304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59736" y="3867912"/>
            <a:ext cx="173736" cy="3200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97480" y="3803904"/>
            <a:ext cx="173736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35224" y="3840480"/>
            <a:ext cx="173736" cy="3474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72968" y="3685032"/>
            <a:ext cx="173736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10711" y="3621024"/>
            <a:ext cx="173736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8455" y="3657600"/>
            <a:ext cx="173736" cy="5303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886199" y="3538728"/>
            <a:ext cx="173736" cy="64922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23943" y="3584448"/>
            <a:ext cx="173736" cy="6035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61687" y="3474720"/>
            <a:ext cx="173736" cy="7132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99431" y="3410712"/>
            <a:ext cx="173736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837175" y="3511296"/>
            <a:ext cx="173736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074919" y="3346704"/>
            <a:ext cx="173736" cy="8412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312663" y="3383280"/>
            <a:ext cx="173736" cy="80467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550407" y="3273552"/>
            <a:ext cx="173736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788151" y="3319272"/>
            <a:ext cx="173736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25895" y="3182112"/>
            <a:ext cx="173736" cy="10058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63639" y="3227832"/>
            <a:ext cx="173736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01383" y="3108960"/>
            <a:ext cx="173736" cy="10789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39127" y="3163824"/>
            <a:ext cx="173736" cy="10241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76871" y="3044952"/>
            <a:ext cx="173736" cy="1143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35133" y="2432304"/>
            <a:ext cx="414973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35133" y="2432304"/>
            <a:ext cx="4149730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26573" y="2432304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코호트 리텐션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44383" y="2432304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가입 주 기준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44861" y="2798064"/>
            <a:ext cx="3930274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08869" y="2798064"/>
            <a:ext cx="78195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가입 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82264" y="279806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D1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93640" y="279806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D3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05016" y="279806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D7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16392" y="279806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D14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27768" y="279806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D30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44861" y="3072384"/>
            <a:ext cx="393027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08869" y="3072384"/>
            <a:ext cx="78195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8/04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82264" y="307238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68%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93640" y="307238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51%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05016" y="307238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42%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16392" y="307238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38%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827768" y="307238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29%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44861" y="3346703"/>
            <a:ext cx="393027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08869" y="3346703"/>
            <a:ext cx="78195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8/11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2264" y="3346703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71%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93640" y="3346703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55%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605016" y="3346703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44%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16392" y="3346703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827768" y="3346703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44861" y="3621023"/>
            <a:ext cx="393027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08869" y="3621023"/>
            <a:ext cx="78195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8/18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82264" y="3621023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66%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93640" y="3621023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49%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05016" y="3621023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16392" y="3621023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27768" y="3621023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444861" y="3895344"/>
            <a:ext cx="393027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08869" y="3895344"/>
            <a:ext cx="78195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8/25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82264" y="389534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73%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93640" y="389534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58%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605016" y="389534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—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16392" y="389534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827768" y="3895344"/>
            <a:ext cx="51993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85416" y="4443984"/>
            <a:ext cx="929944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185416" y="4443984"/>
            <a:ext cx="929944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276856" y="4443984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쪼개서 보기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644383" y="4443984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이 세 가지는 반드시 나눠 본다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03704" y="4809744"/>
            <a:ext cx="297789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313432" y="4882896"/>
            <a:ext cx="27584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Persona 별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13432" y="5084064"/>
            <a:ext cx="27584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friend 38%  ·  villain 44%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313432" y="5285232"/>
            <a:ext cx="275844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villain 이 오래 남는다면 기본값을 바꿀 근거가 된다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346192" y="4809744"/>
            <a:ext cx="297789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55920" y="4882896"/>
            <a:ext cx="27584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학년 별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55920" y="5084064"/>
            <a:ext cx="27584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4학년 41%  ·  5학년 39%  ·  6학년 33%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455920" y="5285232"/>
            <a:ext cx="275844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6학년이 낮다면 난이도 상한이 모자란다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488680" y="4809744"/>
            <a:ext cx="297789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598408" y="4882896"/>
            <a:ext cx="27584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유입경로 별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598408" y="5084064"/>
            <a:ext cx="27584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검색 45%  ·  SNS 31%  ·  지인 52%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598408" y="5285232"/>
            <a:ext cx="275844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지인 유입이 높으면 추천 기능을 만들 근거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D1 재방문이 이 제품의 가장 정직한 지표다. 재미없으면 아이는 다음 날 안 온다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ADM-004 · 계정 관리 —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개인정보는 기본 마스킹. 해제하면 감사 로그가 남는다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관리 › 계정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" y="2706624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계정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1499616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9424" y="1499616"/>
            <a:ext cx="261518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이메일 · 이름 · 계정ID 검색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0056" y="1499616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1499616"/>
            <a:ext cx="106070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상태 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0216" y="1499616"/>
            <a:ext cx="1371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1499616"/>
            <a:ext cx="124358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구독 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63256" y="1499616"/>
            <a:ext cx="18288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27264" y="1499616"/>
            <a:ext cx="170078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가입일 범위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53144" y="1499616"/>
            <a:ext cx="10515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53144" y="1499616"/>
            <a:ext cx="105156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마스킹 해제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96144" y="1499616"/>
            <a:ext cx="118872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96144" y="1499616"/>
            <a:ext cx="11887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CSV 내려받기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85416" y="1883664"/>
            <a:ext cx="929944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49424" y="1883664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계정 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1854" y="1883664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이름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83678" y="1883664"/>
            <a:ext cx="208811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이메일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3236" y="1883664"/>
            <a:ext cx="63507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학생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89755" y="1883664"/>
            <a:ext cx="92568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가입일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6882" y="1883664"/>
            <a:ext cx="121629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구독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14617" y="1883664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최근 접속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77048" y="1883664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2185416" y="2157984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49424" y="2157984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a_1204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11854" y="2157984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김**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83678" y="2157984"/>
            <a:ext cx="208811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ki**@gmail.com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3236" y="2157984"/>
            <a:ext cx="63507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89755" y="2157984"/>
            <a:ext cx="92568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6882" y="2157984"/>
            <a:ext cx="121629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체험 D9 / 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14617" y="2157984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2시간 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77048" y="2157984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상세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85416" y="2432303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49424" y="2432303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a_1203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11854" y="2432303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박**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83678" y="2432303"/>
            <a:ext cx="208811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pa**@naver.com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63236" y="2432303"/>
            <a:ext cx="63507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89755" y="2432303"/>
            <a:ext cx="92568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06882" y="2432303"/>
            <a:ext cx="121629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구독중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14617" y="2432303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어제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77048" y="2432303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상세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85416" y="2706623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49424" y="2706623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a_1198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11854" y="2706623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최**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83678" y="2706623"/>
            <a:ext cx="208811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ch**@daum.net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63236" y="2706623"/>
            <a:ext cx="63507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89755" y="2706623"/>
            <a:ext cx="92568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06882" y="2706623"/>
            <a:ext cx="121629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유예 D2 / 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14617" y="2706623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3일 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77048" y="2706623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상세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85416" y="2980943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49424" y="2980943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a_1190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11854" y="2980943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정**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83678" y="2980943"/>
            <a:ext cx="208811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jo**@gmail.com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3236" y="2980943"/>
            <a:ext cx="63507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89755" y="2980943"/>
            <a:ext cx="92568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08/22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06882" y="2980943"/>
            <a:ext cx="121629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57F3D"/>
                </a:solidFill>
                <a:latin typeface="맑은 고딕"/>
              </a:rPr>
              <a:t>구독중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14617" y="2980943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5시간 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77048" y="2980943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상세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85416" y="3255263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49424" y="3255263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a_1187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11854" y="3255263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이**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83678" y="3255263"/>
            <a:ext cx="208811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le**@kakao.com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63236" y="3255263"/>
            <a:ext cx="63507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89755" y="3255263"/>
            <a:ext cx="92568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08/21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06882" y="3255263"/>
            <a:ext cx="121629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만료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14617" y="3255263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12일 전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677048" y="3255263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상세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85416" y="3529583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249424" y="3529583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a_1181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11854" y="3529583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한**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83678" y="3529583"/>
            <a:ext cx="208811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ha**@naver.com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63236" y="3529583"/>
            <a:ext cx="63507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89755" y="3529583"/>
            <a:ext cx="92568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08/19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06882" y="3529583"/>
            <a:ext cx="1216294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체험 D2 / 14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14617" y="3529583"/>
            <a:ext cx="107099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방금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77048" y="3529583"/>
            <a:ext cx="78038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상세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85416" y="3931920"/>
            <a:ext cx="9299448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전체 1,204건 중 1 – 6      ‹ 1 2 3 … 201 ›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목록에서는 조치를 하지 않는다. 대량 실수를 막기 위해 조치는 상세에서만 한 건씩 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ADM-004 · 계정 관리 —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보는 것과 하는 것을 좌우로 나눈다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관리 › 계정 › a_1204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" y="2706624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계정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1499616"/>
            <a:ext cx="92994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13432" y="1572768"/>
            <a:ext cx="36576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맑은 고딕"/>
              </a:rPr>
              <a:t>김**  ·  a_1204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3432" y="1810512"/>
            <a:ext cx="548640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ki**@gmail.com  ·  가입 2026-08-28  ·  학생 2명  ·  최근 접속 2시간 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67544" y="1645919"/>
            <a:ext cx="1280160" cy="219456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67544" y="1645919"/>
            <a:ext cx="12801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체험 D9 / 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85416" y="2139696"/>
            <a:ext cx="1051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85416" y="2139696"/>
            <a:ext cx="105156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기본정보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73552" y="2139696"/>
            <a:ext cx="1051560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73552" y="2139696"/>
            <a:ext cx="105156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학생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2139696"/>
            <a:ext cx="1051560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61688" y="2139696"/>
            <a:ext cx="105156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결제 이력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3" y="2139696"/>
            <a:ext cx="1143000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9823" y="2139696"/>
            <a:ext cx="11430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CS 이력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9399" y="2139696"/>
            <a:ext cx="1051560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399" y="2139696"/>
            <a:ext cx="105156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활동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85416" y="2468880"/>
            <a:ext cx="5393679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85416" y="2468880"/>
            <a:ext cx="5393679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76856" y="2468880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기본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720" y="2834640"/>
            <a:ext cx="316266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이름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2363" y="2834640"/>
            <a:ext cx="2040428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김**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31720" y="3044952"/>
            <a:ext cx="316266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이메일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2363" y="3044952"/>
            <a:ext cx="2040428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ki**@gmail.com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31720" y="3255264"/>
            <a:ext cx="316266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휴대폰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2363" y="3255264"/>
            <a:ext cx="2040428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010-****-**21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1720" y="3465576"/>
            <a:ext cx="316266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가입 경로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2363" y="3465576"/>
            <a:ext cx="2040428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검색 / 자연유입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1720" y="3675888"/>
            <a:ext cx="316266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마케팅 수신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2363" y="3675888"/>
            <a:ext cx="2040428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이메일 O · SMS 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3886200"/>
            <a:ext cx="316266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최근 로그인 기기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2363" y="3886200"/>
            <a:ext cx="2040428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iPhone · Safari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31720" y="4096512"/>
            <a:ext cx="316266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계정 상태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2363" y="4096512"/>
            <a:ext cx="2040428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정상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31720" y="4306824"/>
            <a:ext cx="316266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로그인 실패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92363" y="4306824"/>
            <a:ext cx="2040428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0회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07111" y="2468880"/>
            <a:ext cx="3777752" cy="201167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07111" y="2468880"/>
            <a:ext cx="3777752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98551" y="2468880"/>
            <a:ext cx="27432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조치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98551" y="2779776"/>
            <a:ext cx="359487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08279" y="2779776"/>
            <a:ext cx="19489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비밀번호 재설정 링크 발송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98551" y="3054096"/>
            <a:ext cx="359487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08279" y="3054096"/>
            <a:ext cx="19489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강제 로그아웃 (모든 기기)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524744" y="3090672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24744" y="3090672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98551" y="3328415"/>
            <a:ext cx="359487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08279" y="3328415"/>
            <a:ext cx="19489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이메일 변경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524744" y="336499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24744" y="336499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98551" y="3602735"/>
            <a:ext cx="359487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908279" y="3602735"/>
            <a:ext cx="19489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계정 잠금 / 잠금 해제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524744" y="363931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24744" y="363931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98551" y="3877055"/>
            <a:ext cx="359487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08279" y="3877055"/>
            <a:ext cx="19489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탈퇴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524744" y="391363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24744" y="391363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COM-007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98551" y="4151375"/>
            <a:ext cx="359487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08279" y="4151375"/>
            <a:ext cx="19489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탈퇴 취소 (복구 기간 내)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524744" y="418795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24744" y="418795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COM-007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07111" y="4572000"/>
            <a:ext cx="3777752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조치는 오른쪽에만 둔다. 왼쪽을 읽다가 실수로 누르는 일을 막는다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읽기전용 권한은 이 화면에서 조치 패널 자체가 보이지 않는다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ADM-005 · 학생 관리 —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아동 데이터. 권한 등급에 따라 보이는 범위가 다르다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310896"/>
            <a:ext cx="2194560" cy="256032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310896"/>
            <a:ext cx="219456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COM-007 확정 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관리 › 학생 › s_1533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" y="2921508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학생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85416" y="1499616"/>
            <a:ext cx="9299448" cy="310896"/>
          </a:xfrm>
          <a:prstGeom prst="rect">
            <a:avLst/>
          </a:prstGeom>
          <a:solidFill>
            <a:srgbClr val="F3EE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13432" y="1499616"/>
            <a:ext cx="9025128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D28D9"/>
                </a:solidFill>
                <a:latin typeface="맑은 고딕"/>
              </a:rPr>
              <a:t>아동 데이터입니다. 열람 기록이 감사 로그에 남습니다.  ·  사유 : CS #412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85416" y="1883664"/>
            <a:ext cx="929944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13432" y="1938528"/>
            <a:ext cx="45720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s_1533  ·  4학년  ·  Persona villain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13432" y="2157984"/>
            <a:ext cx="548640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부모 계정 a_1204  ·  체험 D9 / 14  ·  최근 학습 2시간 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85416" y="2468880"/>
            <a:ext cx="557966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85416" y="2468880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76856" y="2468880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학습 요약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24604" y="2468880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집계값 — 모든 권한이 볼 수 있음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3432" y="2834640"/>
            <a:ext cx="1262329" cy="4754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13432" y="2871216"/>
            <a:ext cx="126232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총 세션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13432" y="3035808"/>
            <a:ext cx="1262329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67201" y="2834640"/>
            <a:ext cx="1262329" cy="4754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67201" y="2871216"/>
            <a:ext cx="126232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완료 문제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67201" y="3035808"/>
            <a:ext cx="1262329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87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0970" y="2834640"/>
            <a:ext cx="1262329" cy="4754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0970" y="2871216"/>
            <a:ext cx="126232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needs_review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0970" y="3035808"/>
            <a:ext cx="1262329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16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74739" y="2834640"/>
            <a:ext cx="1262329" cy="47548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4739" y="2871216"/>
            <a:ext cx="1262329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중단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4739" y="3035808"/>
            <a:ext cx="1262329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383280"/>
            <a:ext cx="5323636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평균 support level 1.4  ·  평균 drill-down 2.8회  ·  정답률은 표시하지 않음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5416" y="3767328"/>
            <a:ext cx="5579668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85416" y="3767328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76856" y="3767328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자주 막힌 부분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24604" y="3767328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Logic Gap 상위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95144" y="4114800"/>
            <a:ext cx="5360212" cy="219456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59152" y="4114800"/>
            <a:ext cx="116978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유형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20378" y="4114800"/>
            <a:ext cx="211570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개념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27524" y="4114800"/>
            <a:ext cx="69682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횟수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5791" y="4114800"/>
            <a:ext cx="1012133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최근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95144" y="4334256"/>
            <a:ext cx="5360212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59152" y="4334256"/>
            <a:ext cx="116978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rule_gap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20378" y="4334256"/>
            <a:ext cx="211570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분수의 통분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27524" y="4334256"/>
            <a:ext cx="69682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15791" y="4334256"/>
            <a:ext cx="1012133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09/02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95144" y="4553712"/>
            <a:ext cx="5360212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59152" y="4553712"/>
            <a:ext cx="116978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knowledge_gap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20378" y="4553712"/>
            <a:ext cx="211570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약수와 배수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27524" y="4553712"/>
            <a:ext cx="69682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15791" y="4553712"/>
            <a:ext cx="1012133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08/31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95144" y="4773168"/>
            <a:ext cx="5360212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59152" y="4773168"/>
            <a:ext cx="116978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transfer_gap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20378" y="4773168"/>
            <a:ext cx="211570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비와 비율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27524" y="4773168"/>
            <a:ext cx="69682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15791" y="4773168"/>
            <a:ext cx="1012133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08/29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93100" y="2468880"/>
            <a:ext cx="3591763" cy="201167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893100" y="2468880"/>
            <a:ext cx="3591763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84540" y="2468880"/>
            <a:ext cx="27432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조치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84540" y="2779776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94268" y="2779776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학년 정정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524744" y="2816352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24744" y="2816352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84540" y="3054096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94268" y="3054096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닉네임 · 생년월일 수정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524744" y="3090672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24744" y="3090672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84540" y="3328415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94268" y="3328415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Persona 변경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524744" y="336499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24744" y="336499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84540" y="3602735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94268" y="3602735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난이도 수동 조정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524744" y="363931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524744" y="363931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정책 필요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84540" y="3877055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94268" y="3877055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Student Memory 초기화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524744" y="391363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524744" y="391363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정책 필요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4540" y="4151375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094268" y="4151375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학생 삭제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524744" y="418795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524744" y="418795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COM-007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93100" y="4572000"/>
            <a:ext cx="3591763" cy="841248"/>
          </a:xfrm>
          <a:prstGeom prst="rect">
            <a:avLst/>
          </a:prstGeom>
          <a:solidFill>
            <a:srgbClr val="FFF4F4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02828" y="4645152"/>
            <a:ext cx="3372307" cy="7315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B91C1C"/>
                </a:solidFill>
                <a:latin typeface="맑은 고딕"/>
              </a:rPr>
              <a:t>정책 필요 2건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B91C1C"/>
                </a:solidFill>
                <a:latin typeface="맑은 고딕"/>
              </a:rPr>
              <a:t>COM-001 §19 는 세션 종료 시 초기화만 금지한다.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B91C1C"/>
                </a:solidFill>
                <a:latin typeface="맑은 고딕"/>
              </a:rPr>
              <a:t>운영자가 손으로 초기화해도 되는지는 정의가 없다.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AI 대화 원문과 문제 사진은 이 화면에 없다. 전체 권한 + 별도 열람 화면에서만 본다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ADM-006 · 구독 · 결제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CS 가 가장 자주 쓰게 될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관리 › 구독 · 결제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" y="3136391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구독 · 결제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1499616"/>
            <a:ext cx="1772107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1572768"/>
            <a:ext cx="1772107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체험 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85416" y="1737360"/>
            <a:ext cx="1772107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444444"/>
                </a:solidFill>
                <a:latin typeface="맑은 고딕"/>
              </a:rPr>
              <a:t>188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7251" y="1499616"/>
            <a:ext cx="1772107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7251" y="1572768"/>
            <a:ext cx="1772107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구독 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7251" y="1737360"/>
            <a:ext cx="1772107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57F3D"/>
                </a:solidFill>
                <a:latin typeface="맑은 고딕"/>
              </a:rPr>
              <a:t>642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9086" y="1499616"/>
            <a:ext cx="1772107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9086" y="1572768"/>
            <a:ext cx="1772107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유예 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9086" y="1737360"/>
            <a:ext cx="1772107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B45309"/>
                </a:solidFill>
                <a:latin typeface="맑은 고딕"/>
              </a:rPr>
              <a:t>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30921" y="1499616"/>
            <a:ext cx="1772107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30921" y="1572768"/>
            <a:ext cx="1772107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오늘 만료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30921" y="1737360"/>
            <a:ext cx="1772107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B45309"/>
                </a:solidFill>
                <a:latin typeface="맑은 고딕"/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12756" y="1499616"/>
            <a:ext cx="1772107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12756" y="1572768"/>
            <a:ext cx="1772107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결제 실패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2756" y="1737360"/>
            <a:ext cx="1772107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맑은 고딕"/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85416" y="2249424"/>
            <a:ext cx="5765657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85416" y="2249424"/>
            <a:ext cx="5765657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76856" y="2249424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결제 실패 · 유예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0593" y="2249424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오래된 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95144" y="2615184"/>
            <a:ext cx="5546201" cy="256032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59152" y="2615184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계정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21894" y="2615184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학생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84636" y="2615184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금액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47379" y="2615184"/>
            <a:ext cx="1510796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실패 사유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49615" y="2615184"/>
            <a:ext cx="6480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유예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89109" y="2615184"/>
            <a:ext cx="52480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시도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95144" y="2871215"/>
            <a:ext cx="5546201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59152" y="2871215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a_1198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21894" y="2871215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s_1502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84636" y="2871215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₩12,900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47379" y="2871215"/>
            <a:ext cx="1510796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카드 한도 초과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49615" y="2871215"/>
            <a:ext cx="6480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D2 /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89109" y="2871215"/>
            <a:ext cx="52480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3회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95144" y="3127248"/>
            <a:ext cx="5546201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59152" y="3127248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a_1176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21894" y="3127248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s_1466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84636" y="3127248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₩12,900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47379" y="3127248"/>
            <a:ext cx="1510796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카드 유효기간 만료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49615" y="3127248"/>
            <a:ext cx="6480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D1 / 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89109" y="3127248"/>
            <a:ext cx="52480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2회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95144" y="3383280"/>
            <a:ext cx="5546201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59152" y="3383280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a_1155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21894" y="3383280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s_1401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84636" y="3383280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₩25,800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47379" y="3383280"/>
            <a:ext cx="1510796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잔액 부족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49615" y="3383280"/>
            <a:ext cx="6480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D3 / 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89109" y="3383280"/>
            <a:ext cx="52480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95144" y="3639312"/>
            <a:ext cx="5546201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59152" y="3639312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a_1149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21894" y="3639312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s_1388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84636" y="3639312"/>
            <a:ext cx="77130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₩12,900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47379" y="3639312"/>
            <a:ext cx="1510796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카드사 거절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49615" y="3639312"/>
            <a:ext cx="6480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D1 / 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9109" y="3639312"/>
            <a:ext cx="52480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1회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79089" y="2249424"/>
            <a:ext cx="3405774" cy="201167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79089" y="2249424"/>
            <a:ext cx="3405774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70529" y="2249424"/>
            <a:ext cx="27432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선택한 건에 대한 조치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70529" y="2560320"/>
            <a:ext cx="322289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80257" y="2560320"/>
            <a:ext cx="157697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무료체험 연장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524744" y="2596896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24744" y="2596896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70529" y="2834639"/>
            <a:ext cx="322289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80257" y="2834639"/>
            <a:ext cx="157697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구독 수동 활성화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524744" y="2871215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524744" y="2871215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70529" y="3108959"/>
            <a:ext cx="322289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80257" y="3108959"/>
            <a:ext cx="157697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구독 해지 / 해지 취소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524744" y="3145535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524744" y="3145535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170529" y="3383279"/>
            <a:ext cx="322289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80257" y="3383279"/>
            <a:ext cx="157697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결제 재시도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524744" y="3419855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524744" y="3419855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170529" y="3657599"/>
            <a:ext cx="322289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280257" y="3657599"/>
            <a:ext cx="157697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유예 기간 연장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524744" y="3694175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524744" y="3694175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70529" y="3931919"/>
            <a:ext cx="322289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80257" y="3931919"/>
            <a:ext cx="157697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환불 처리 (전액 / 부분)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524744" y="3968495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524744" y="3968495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079089" y="4169663"/>
            <a:ext cx="3405774" cy="658368"/>
          </a:xfrm>
          <a:prstGeom prst="rect">
            <a:avLst/>
          </a:prstGeom>
          <a:solidFill>
            <a:srgbClr val="FFFAF0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88817" y="4242816"/>
            <a:ext cx="3186318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B45309"/>
                </a:solidFill>
                <a:latin typeface="맑은 고딕"/>
              </a:rPr>
              <a:t>체험 연장은 학생 단위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B45309"/>
                </a:solidFill>
                <a:latin typeface="맑은 고딕"/>
              </a:rPr>
              <a:t>계정 단위로 늘리면 형제 중 한 명만 보상하려던 것이 둘 다 늘어난다.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환불과 해지는 결제 PM 의 서비스 레이어를 호출한다. 어드민이 결제 테이블을 직접 고치지 않는다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ADM-007 · 세션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중단된 학습을 되살리고, 잘못 기록된 상태를 바로잡는다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관리 › 세션 › ses_8821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" y="3351275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1499616"/>
            <a:ext cx="929944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13432" y="1554480"/>
            <a:ext cx="457200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ses_8821  ·  학생 s_1533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3432" y="1773936"/>
            <a:ext cx="640080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2026-09-02 14:05 시작  ·  24분  ·  4 / 10 문제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47504" y="1627631"/>
            <a:ext cx="1600200" cy="237744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47504" y="1627631"/>
            <a:ext cx="16002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system_interrupted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85416" y="2103120"/>
            <a:ext cx="557966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85416" y="2103120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76856" y="2103120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중단 정보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2468879"/>
            <a:ext cx="3277977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오류 코드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3956" y="2468879"/>
            <a:ext cx="211482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AI_TIMEOUT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2679191"/>
            <a:ext cx="3277977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재시도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3956" y="2679191"/>
            <a:ext cx="211482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3회 모두 실패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2889503"/>
            <a:ext cx="3277977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끊긴 지점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3956" y="2889503"/>
            <a:ext cx="211482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4번째 문제 · drill-down 2회차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20" y="3099815"/>
            <a:ext cx="3277977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진행 보존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03956" y="3099815"/>
            <a:ext cx="2114824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있음 — 복구 가능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85416" y="3383280"/>
            <a:ext cx="557966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85416" y="3383280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76856" y="3383280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문제 진행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24604" y="3383280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완료 상태별 카운트 반영 여부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95144" y="3730752"/>
            <a:ext cx="5360212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59152" y="3730752"/>
            <a:ext cx="3958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#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46444" y="3730752"/>
            <a:ext cx="185772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개념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95612" y="3730752"/>
            <a:ext cx="153286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상태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919" y="3730752"/>
            <a:ext cx="120800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집계 반영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95144" y="3968496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59152" y="3968496"/>
            <a:ext cx="3958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46444" y="3968496"/>
            <a:ext cx="185772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분수의 덧셈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95612" y="3968496"/>
            <a:ext cx="153286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completed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19919" y="3968496"/>
            <a:ext cx="120800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포함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95144" y="4206240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59152" y="4206240"/>
            <a:ext cx="3958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46444" y="4206240"/>
            <a:ext cx="185772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분수의 통분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95612" y="4206240"/>
            <a:ext cx="153286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needs_review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9919" y="4206240"/>
            <a:ext cx="120800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포함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95144" y="4443983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59152" y="4443983"/>
            <a:ext cx="3958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46444" y="4443983"/>
            <a:ext cx="185772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약수와 배수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95612" y="4443983"/>
            <a:ext cx="153286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completed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19919" y="4443983"/>
            <a:ext cx="120800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포함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95144" y="4681727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59152" y="4681727"/>
            <a:ext cx="39585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46444" y="4681727"/>
            <a:ext cx="185772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비와 비율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5612" y="4681727"/>
            <a:ext cx="153286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system_interrupted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19919" y="4681727"/>
            <a:ext cx="120800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제외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93100" y="2103120"/>
            <a:ext cx="3591763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893100" y="2103120"/>
            <a:ext cx="3591763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84540" y="2103120"/>
            <a:ext cx="27432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조치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84540" y="2414015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94268" y="2414015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세션 강제 종료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524744" y="245059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24744" y="245059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84540" y="2688335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94268" y="2688335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진행 상태 복구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24744" y="272491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24744" y="272491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84540" y="2962655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94268" y="2962655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문제 무효 처리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524744" y="299923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524744" y="299923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984540" y="3236975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94268" y="3236975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완료 상태 재분류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524744" y="3273551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524744" y="3273551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93100" y="3419856"/>
            <a:ext cx="3591763" cy="1051560"/>
          </a:xfrm>
          <a:prstGeom prst="rect">
            <a:avLst/>
          </a:prstGeom>
          <a:solidFill>
            <a:srgbClr val="F2F7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02828" y="3493008"/>
            <a:ext cx="3372307" cy="9144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재분류가 왜 필요한가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AI 장애로 끊긴 것을 시스템이 needs_review 로 잘못 기록하면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COM-001 §19 "학생의 시스템 오류를 오답으로 평가하지 않는다" 를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어기게 된다. 사람이 고칠 수 있어야 한다.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무효 처리한 문제는 정답률과 완료 문제 수에서 빠진다. 학생 화면에는 아무 표시도 하지 않는다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ADM-008 · CS 문의 —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미답변과 경과 시간이 가장 눈에 띄어야 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응대 › CS 문의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" y="4215384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55064" y="4247388"/>
            <a:ext cx="237744" cy="155448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55064" y="4247388"/>
            <a:ext cx="237744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85416" y="1499616"/>
            <a:ext cx="119637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85416" y="1554480"/>
            <a:ext cx="119637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미답변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85416" y="1719072"/>
            <a:ext cx="1196378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B91C1C"/>
                </a:solidFill>
                <a:latin typeface="맑은 고딕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1522" y="1499616"/>
            <a:ext cx="119637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91522" y="1554480"/>
            <a:ext cx="119637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처리 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1522" y="1719072"/>
            <a:ext cx="1196378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맑은 고딕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97628" y="1499616"/>
            <a:ext cx="119637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97628" y="1554480"/>
            <a:ext cx="119637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오늘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7628" y="1719072"/>
            <a:ext cx="1196378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57F3D"/>
                </a:solidFill>
                <a:latin typeface="맑은 고딕"/>
              </a:rPr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3734" y="1499616"/>
            <a:ext cx="119637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03734" y="1554480"/>
            <a:ext cx="119637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평균 응답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03734" y="1719072"/>
            <a:ext cx="1196378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44444"/>
                </a:solidFill>
                <a:latin typeface="맑은 고딕"/>
              </a:rPr>
              <a:t>4.2시간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78624" y="1645919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42632" y="1645919"/>
            <a:ext cx="115214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미답변 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50224" y="1645919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14232" y="1645919"/>
            <a:ext cx="115214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분류 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21824" y="1645919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85832" y="1645919"/>
            <a:ext cx="133502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담당 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85416" y="2157984"/>
            <a:ext cx="929944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9424" y="2157984"/>
            <a:ext cx="40547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#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6341" y="2157984"/>
            <a:ext cx="111535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접수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53139" y="2157984"/>
            <a:ext cx="9733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분류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17961" y="2157984"/>
            <a:ext cx="303203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제목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41440" y="2157984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계정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64286" y="2157984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상태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87132" y="2157984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담당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68002" y="2157984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경과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85416" y="2432303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49424" y="2432303"/>
            <a:ext cx="40547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6341" y="2432303"/>
            <a:ext cx="111535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09/02 14:22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53139" y="2432303"/>
            <a:ext cx="9733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학습오류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17961" y="2432303"/>
            <a:ext cx="303203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학습이 중간에 끊겨요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41440" y="2432303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a_1204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64286" y="2432303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미답변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87132" y="2432303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68002" y="2432303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2일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85416" y="2706623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49424" y="2706623"/>
            <a:ext cx="40547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6341" y="2706623"/>
            <a:ext cx="111535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09/02 09:14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53139" y="2706623"/>
            <a:ext cx="9733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결제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17961" y="2706623"/>
            <a:ext cx="303203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환불 요청합니다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41440" y="2706623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a_1188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64286" y="2706623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처리중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87132" y="2706623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김PM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68002" y="2706623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1일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85416" y="2980943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49424" y="2980943"/>
            <a:ext cx="40547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409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6341" y="2980943"/>
            <a:ext cx="111535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09/02 08:02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53139" y="2980943"/>
            <a:ext cx="9733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문제오류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17961" y="2980943"/>
            <a:ext cx="303203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문제 답이 이상해요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41440" y="2980943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a_1155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64286" y="2980943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미답변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87132" y="2980943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68002" y="2980943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1일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185416" y="3255263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49424" y="3255263"/>
            <a:ext cx="40547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6341" y="3255263"/>
            <a:ext cx="111535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09/01 21:03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53139" y="3255263"/>
            <a:ext cx="9733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17961" y="3255263"/>
            <a:ext cx="303203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비밀번호를 잊었어요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41440" y="3255263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a_1170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64286" y="3255263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완료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87132" y="3255263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박PM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68002" y="3255263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85416" y="3529583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49424" y="3529583"/>
            <a:ext cx="405477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408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6341" y="3529583"/>
            <a:ext cx="111535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09/01 18:40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53139" y="3529583"/>
            <a:ext cx="9733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기타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17961" y="3529583"/>
            <a:ext cx="303203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형제 할인 문의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41440" y="3529583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a_1149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64286" y="3529583"/>
            <a:ext cx="83140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완료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987132" y="3529583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김PM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768002" y="3529583"/>
            <a:ext cx="6894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접수 경로를 앱 안 문의 폼으로 두면 계정 · 세션이 자동으로 붙는다. 이메일 접수는 손으로 연결해야 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ADM-008 · CS 문의 —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이 화면의 핵심은 가운데 [자동 연결 정보] 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응대 › CS 문의 › #412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" y="4215384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1499616"/>
            <a:ext cx="55796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13432" y="1545336"/>
            <a:ext cx="457200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#412  학습이 중간에 끊겨요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3432" y="1746504"/>
            <a:ext cx="5486400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계정 a_1204  ·  학생 s_1533  ·  2026-09-02 14:22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04964" y="1609343"/>
            <a:ext cx="822960" cy="219456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04964" y="1609343"/>
            <a:ext cx="82296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미답변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85416" y="2029967"/>
            <a:ext cx="55796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85416" y="2029967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76856" y="2029967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문의 내용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2395727"/>
            <a:ext cx="5287060" cy="5486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어제 저녁에 아이가 학습하다가 갑자기 화면이 멈췄대요.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다시 들어가니까 처음부터 하라고 나온다는데, 하던 건 어떻게 되나요?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85416" y="2962656"/>
            <a:ext cx="557966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85416" y="2962656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76856" y="296265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자동 연결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24604" y="2962656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문의가 접수될 때 시스템이 붙인다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76856" y="3310128"/>
            <a:ext cx="5396788" cy="1207008"/>
          </a:xfrm>
          <a:prstGeom prst="rect">
            <a:avLst/>
          </a:prstGeom>
          <a:solidFill>
            <a:srgbClr val="F2F7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04872" y="3383280"/>
            <a:ext cx="3187269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관련 세션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326" y="3383280"/>
            <a:ext cx="2056302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ses_8821  ·  09/02 14:05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04872" y="3602736"/>
            <a:ext cx="3187269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세션 상태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9326" y="3602736"/>
            <a:ext cx="2056302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system_interrupted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04872" y="3822191"/>
            <a:ext cx="3187269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오류 코드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9326" y="3822191"/>
            <a:ext cx="2056302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AI_TIMEOUT (재시도 3회 실패)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04872" y="4041648"/>
            <a:ext cx="3187269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끊긴 지점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9326" y="4041648"/>
            <a:ext cx="2056302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4번째 문제 · drill-down 2회차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04872" y="4261104"/>
            <a:ext cx="3187269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진행 보존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9326" y="4261104"/>
            <a:ext cx="2056302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있음 → 이어서 하기 가능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5416" y="4471416"/>
            <a:ext cx="557966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85416" y="4471416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76856" y="447141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답변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95144" y="4818888"/>
            <a:ext cx="536021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86584" y="4873751"/>
            <a:ext cx="5177332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안녕하세요. 확인해 보니 저희 쪽 오류로 학습이 중단되었습니다…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95144" y="5349240"/>
            <a:ext cx="118872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95144" y="5349240"/>
            <a:ext cx="118872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내부 메모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50484" y="5349240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50484" y="5349240"/>
            <a:ext cx="11430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상태 변경 ▾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66636" y="5349240"/>
            <a:ext cx="1188720" cy="237744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66636" y="5349240"/>
            <a:ext cx="118872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답변 보내기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93100" y="1499616"/>
            <a:ext cx="3591763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93100" y="1499616"/>
            <a:ext cx="3591763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84540" y="1499616"/>
            <a:ext cx="27432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이 문의에서 바로 하는 조치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84540" y="1810512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94268" y="1810512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세션 진행 상태 복구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524744" y="1847088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24744" y="1847088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84540" y="2084831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94268" y="2084831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무료체험 3일 연장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524744" y="2121408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24744" y="2121408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84540" y="2359151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94268" y="2359151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문제 무효 처리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524744" y="2395727"/>
            <a:ext cx="777240" cy="16459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24744" y="2395727"/>
            <a:ext cx="77724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맑은 고딕"/>
              </a:rPr>
              <a:t>사유 필수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84540" y="2633471"/>
            <a:ext cx="3408883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94268" y="2633471"/>
            <a:ext cx="176296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담당자 지정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93100" y="3273552"/>
            <a:ext cx="3591763" cy="1298448"/>
          </a:xfrm>
          <a:prstGeom prst="rect">
            <a:avLst/>
          </a:prstGeom>
          <a:solidFill>
            <a:srgbClr val="F6FAF6"/>
          </a:solidFill>
          <a:ln w="9525">
            <a:solidFill>
              <a:srgbClr val="157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02828" y="3346704"/>
            <a:ext cx="3372307" cy="11704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157F3D"/>
                </a:solidFill>
                <a:latin typeface="맑은 고딕"/>
              </a:rPr>
              <a:t>왜 이렇게 설계하는가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57F3D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57F3D"/>
                </a:solidFill>
                <a:latin typeface="맑은 고딕"/>
              </a:rPr>
              <a:t>자동 연결 정보가 없으면 CS 담당자가 아이의 대화 원문을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57F3D"/>
                </a:solidFill>
                <a:latin typeface="맑은 고딕"/>
              </a:rPr>
              <a:t>열어 보게 된다. 이 블록이 있으면 원문을 안 보고도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57F3D"/>
                </a:solidFill>
                <a:latin typeface="맑은 고딕"/>
              </a:rPr>
              <a:t>답변이 된다.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57F3D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57F3D"/>
                </a:solidFill>
                <a:latin typeface="맑은 고딕"/>
              </a:rPr>
              <a:t>"볼 수 있게" 보다 "안 봐도 되게" 를 먼저 설계한다.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연관 링크 · 회원 상세 · 결제 이력 · 세션 상세 · 같은 계정의 지난 문의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ADM-009 · 피드백 ·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가장 값어치 있는 건 맨 아래 [해지 사유] 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응대 › 피드백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" y="4430268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1499616"/>
            <a:ext cx="1554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9424" y="1499616"/>
            <a:ext cx="142646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최근 30일 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31336" y="1499616"/>
            <a:ext cx="1371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95344" y="1499616"/>
            <a:ext cx="124358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전체 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85416" y="1865376"/>
            <a:ext cx="557966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85416" y="1865376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76856" y="186537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만족도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68296" y="2249424"/>
            <a:ext cx="201168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맑은 고딕"/>
              </a:rPr>
              <a:t>★ 4.2 /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68296" y="2596896"/>
            <a:ext cx="219456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응답 218건 · 응답률 18%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54296" y="2249424"/>
            <a:ext cx="2011680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57F3D"/>
                </a:solidFill>
                <a:latin typeface="맑은 고딕"/>
              </a:rPr>
              <a:t>NPS  +31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54296" y="2596896"/>
            <a:ext cx="23774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A8A"/>
                </a:solidFill>
                <a:latin typeface="맑은 고딕"/>
              </a:rPr>
              <a:t>추천 44% · 중립 43% · 비추천 13%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68296" y="2852928"/>
            <a:ext cx="228600" cy="1005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96896" y="2866644"/>
            <a:ext cx="4345228" cy="7315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96896" y="2866644"/>
            <a:ext cx="4345228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9284" y="2834640"/>
            <a:ext cx="502920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112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68296" y="2958084"/>
            <a:ext cx="228600" cy="1005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96896" y="2971800"/>
            <a:ext cx="4345228" cy="7315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96896" y="2971800"/>
            <a:ext cx="2650589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79284" y="2939796"/>
            <a:ext cx="502920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68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68296" y="3063240"/>
            <a:ext cx="228600" cy="1005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96896" y="3076956"/>
            <a:ext cx="4345228" cy="7315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96896" y="3076956"/>
            <a:ext cx="912498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79284" y="3044952"/>
            <a:ext cx="502920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68296" y="3168396"/>
            <a:ext cx="228600" cy="1005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96896" y="3182112"/>
            <a:ext cx="4345228" cy="7315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96896" y="3182112"/>
            <a:ext cx="347618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79284" y="3150108"/>
            <a:ext cx="502920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68296" y="3273552"/>
            <a:ext cx="228600" cy="1005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96896" y="3287268"/>
            <a:ext cx="4345228" cy="7315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96896" y="3287268"/>
            <a:ext cx="173809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79284" y="3255264"/>
            <a:ext cx="502920" cy="1280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85416" y="3209544"/>
            <a:ext cx="5579668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85416" y="3209544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76856" y="3209544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응답 목록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95144" y="3557015"/>
            <a:ext cx="5360212" cy="256032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59152" y="3557015"/>
            <a:ext cx="55178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날짜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02377" y="3557015"/>
            <a:ext cx="55178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대상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45603" y="3557015"/>
            <a:ext cx="444581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별점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81624" y="3557015"/>
            <a:ext cx="269587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내용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68935" y="3557015"/>
            <a:ext cx="65898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태그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95144" y="3813048"/>
            <a:ext cx="53602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359152" y="3813048"/>
            <a:ext cx="55178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09/02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02377" y="3813048"/>
            <a:ext cx="55178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학부모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45603" y="3813048"/>
            <a:ext cx="444581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★5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81624" y="3813048"/>
            <a:ext cx="269587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리포트 보고 아이가 뭘 모르는지 처음 알았어요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68935" y="3813048"/>
            <a:ext cx="65898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리포트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95144" y="4069080"/>
            <a:ext cx="53602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59152" y="4069080"/>
            <a:ext cx="55178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09/01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02377" y="4069080"/>
            <a:ext cx="55178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학부모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45603" y="4069080"/>
            <a:ext cx="444581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★2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81624" y="4069080"/>
            <a:ext cx="269587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문제가 너무 쉬워요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68935" y="4069080"/>
            <a:ext cx="65898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난이도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95144" y="4325112"/>
            <a:ext cx="53602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59152" y="4325112"/>
            <a:ext cx="55178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08/31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02377" y="4325112"/>
            <a:ext cx="55178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45603" y="4325112"/>
            <a:ext cx="444581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★5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81624" y="4325112"/>
            <a:ext cx="269587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빌런 이기는 게 재밌어요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68935" y="4325112"/>
            <a:ext cx="65898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페르소나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95144" y="4581144"/>
            <a:ext cx="536021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59152" y="4581144"/>
            <a:ext cx="55178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02377" y="4581144"/>
            <a:ext cx="55178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학부모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45603" y="4581144"/>
            <a:ext cx="444581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★3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81624" y="4581144"/>
            <a:ext cx="269587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가격이 조금 부담돼요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68935" y="4581144"/>
            <a:ext cx="65898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가격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93100" y="1865376"/>
            <a:ext cx="3591763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893100" y="1865376"/>
            <a:ext cx="3591763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84540" y="186537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태그별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39404" y="2231136"/>
            <a:ext cx="2045476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난이도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8897" y="2231136"/>
            <a:ext cx="1319662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32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39404" y="2441448"/>
            <a:ext cx="2045476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리포트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18897" y="2441448"/>
            <a:ext cx="1319662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28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39404" y="2651760"/>
            <a:ext cx="2045476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속도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018897" y="2651760"/>
            <a:ext cx="1319662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19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39404" y="2862072"/>
            <a:ext cx="2045476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가격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18897" y="2862072"/>
            <a:ext cx="1319662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14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404" y="3072384"/>
            <a:ext cx="2045476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버그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18897" y="3072384"/>
            <a:ext cx="1319662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893100" y="3209544"/>
            <a:ext cx="3591763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893100" y="3209544"/>
            <a:ext cx="3591763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984540" y="3209544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해지 사유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44383" y="3209544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최근 30일 · 24건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984540" y="3557015"/>
            <a:ext cx="3408883" cy="1298448"/>
          </a:xfrm>
          <a:prstGeom prst="rect">
            <a:avLst/>
          </a:prstGeom>
          <a:solidFill>
            <a:srgbClr val="FFF4F4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12556" y="3648456"/>
            <a:ext cx="1954767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아이가 흥미를 잃음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04267" y="3648456"/>
            <a:ext cx="126114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9건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12556" y="3877056"/>
            <a:ext cx="1954767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가격 부담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004267" y="3877056"/>
            <a:ext cx="126114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6건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112556" y="4105656"/>
            <a:ext cx="1954767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효과를 모르겠음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004267" y="4105656"/>
            <a:ext cx="126114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5건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112556" y="4334256"/>
            <a:ext cx="1954767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난이도가 안 맞음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04267" y="4334256"/>
            <a:ext cx="126114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3건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112556" y="4562856"/>
            <a:ext cx="1954767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기타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004267" y="4562856"/>
            <a:ext cx="126114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1건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어디서 받을지가 화면보다 먼저다 · 학생은 오늘의 기록 뒤 이모지 3개 · 학부모는 리포트 직후와 해지 직전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ADM-010 · AI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prompt-lab 의 검증 규칙을 운영 중에도 그대로 돌린다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조회 › AI 품질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" y="2057400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AI 품질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1499616"/>
            <a:ext cx="15544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9424" y="1499616"/>
            <a:ext cx="142646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최근 7일 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85416" y="1865376"/>
            <a:ext cx="557966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85416" y="1865376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76856" y="186537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단계별 실패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95144" y="2212848"/>
            <a:ext cx="5360212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9152" y="2212848"/>
            <a:ext cx="123355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단계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4148" y="2212848"/>
            <a:ext cx="7517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호출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7327" y="2212848"/>
            <a:ext cx="57105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실패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9826" y="2212848"/>
            <a:ext cx="63128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실패율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12551" y="2212848"/>
            <a:ext cx="171537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주 사유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95144" y="2450591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59152" y="2450591"/>
            <a:ext cx="123355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02 문제검증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84148" y="2450591"/>
            <a:ext cx="7517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12,400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7327" y="2450591"/>
            <a:ext cx="57105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186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9826" y="2450591"/>
            <a:ext cx="63128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12551" y="2450591"/>
            <a:ext cx="171537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정답 검증 불가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95144" y="2688335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59152" y="2688335"/>
            <a:ext cx="123355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03 튜터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84148" y="2688335"/>
            <a:ext cx="7517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38,200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7327" y="2688335"/>
            <a:ext cx="57105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94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89826" y="2688335"/>
            <a:ext cx="63128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0.2%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12551" y="2688335"/>
            <a:ext cx="171537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JSON 파싱 실패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95144" y="2926079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59152" y="2926079"/>
            <a:ext cx="123355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04 평가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84148" y="2926079"/>
            <a:ext cx="7517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11,900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7327" y="2926079"/>
            <a:ext cx="57105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212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89826" y="2926079"/>
            <a:ext cx="63128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1.8%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12551" y="2926079"/>
            <a:ext cx="171537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점수 범위 초과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95144" y="3163823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59152" y="3163823"/>
            <a:ext cx="123355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05 기억 갱신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84148" y="3163823"/>
            <a:ext cx="7517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11,700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7327" y="3163823"/>
            <a:ext cx="57105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89826" y="3163823"/>
            <a:ext cx="63128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0.3%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12551" y="3163823"/>
            <a:ext cx="171537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필드 누락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95144" y="3401567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59152" y="3401567"/>
            <a:ext cx="123355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00 OCR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84148" y="3401567"/>
            <a:ext cx="7517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2,100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27327" y="3401567"/>
            <a:ext cx="571058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441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89826" y="3401567"/>
            <a:ext cx="63128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21.0%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12551" y="3401567"/>
            <a:ext cx="1715373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인식 불가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185416" y="3575304"/>
            <a:ext cx="557966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185416" y="3575304"/>
            <a:ext cx="557966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76856" y="3575304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검증 실패 목록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24604" y="3575304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schema-check 가 잡은 것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95144" y="3922776"/>
            <a:ext cx="5360212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59152" y="3922776"/>
            <a:ext cx="57858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시각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29178" y="3922776"/>
            <a:ext cx="57858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단계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99205" y="3922776"/>
            <a:ext cx="136028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규칙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50929" y="3922776"/>
            <a:ext cx="19186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사유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61009" y="3922776"/>
            <a:ext cx="46691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2295144" y="4160520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359152" y="4160520"/>
            <a:ext cx="57858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14:22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29178" y="4160520"/>
            <a:ext cx="57858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99205" y="4160520"/>
            <a:ext cx="136028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aipm-evaluation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50929" y="4160520"/>
            <a:ext cx="19186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reasoning_score = 4 (0~2)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61009" y="4160520"/>
            <a:ext cx="46691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D28D9"/>
                </a:solidFill>
                <a:latin typeface="맑은 고딕"/>
              </a:rPr>
              <a:t>원문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95144" y="4398264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359152" y="4398264"/>
            <a:ext cx="57858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14:08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29178" y="4398264"/>
            <a:ext cx="57858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99205" y="4398264"/>
            <a:ext cx="136028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aipm-problem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50929" y="4398264"/>
            <a:ext cx="19186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verified_answer 누락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61009" y="4398264"/>
            <a:ext cx="46691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D28D9"/>
                </a:solidFill>
                <a:latin typeface="맑은 고딕"/>
              </a:rPr>
              <a:t>원문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95144" y="4636007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359152" y="4636007"/>
            <a:ext cx="57858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13:51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29178" y="4636007"/>
            <a:ext cx="57858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99205" y="4636007"/>
            <a:ext cx="136028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aipm-evaluation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50929" y="4636007"/>
            <a:ext cx="19186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gap_type 대문자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61009" y="4636007"/>
            <a:ext cx="46691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D28D9"/>
                </a:solidFill>
                <a:latin typeface="맑은 고딕"/>
              </a:rPr>
              <a:t>원문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95144" y="4873751"/>
            <a:ext cx="536021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59152" y="4873751"/>
            <a:ext cx="57858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13:40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29178" y="4873751"/>
            <a:ext cx="57858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99205" y="4873751"/>
            <a:ext cx="136028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aipm-ocr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50929" y="4873751"/>
            <a:ext cx="19186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problem_text 빈 문자열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61009" y="4873751"/>
            <a:ext cx="46691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D28D9"/>
                </a:solidFill>
                <a:latin typeface="맑은 고딕"/>
              </a:rPr>
              <a:t>원문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93100" y="1865376"/>
            <a:ext cx="3591763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893100" y="1865376"/>
            <a:ext cx="3591763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984540" y="186537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문제 완료 상태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021116" y="2249424"/>
            <a:ext cx="2768803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completed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99064" y="2249424"/>
            <a:ext cx="54864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57F3D"/>
                </a:solidFill>
                <a:latin typeface="맑은 고딕"/>
              </a:rPr>
              <a:t>74.2%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021116" y="2414016"/>
            <a:ext cx="3335731" cy="7315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21116" y="2414016"/>
            <a:ext cx="2468441" cy="73152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21116" y="2542032"/>
            <a:ext cx="2768803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needs_review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99064" y="2542032"/>
            <a:ext cx="54864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맑은 고딕"/>
              </a:rPr>
              <a:t>18.3%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21116" y="2706624"/>
            <a:ext cx="3335731" cy="7315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021116" y="2706624"/>
            <a:ext cx="600431" cy="731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021116" y="2834640"/>
            <a:ext cx="2768803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system_interrupted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799064" y="2834640"/>
            <a:ext cx="54864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B91C1C"/>
                </a:solidFill>
                <a:latin typeface="맑은 고딕"/>
              </a:rPr>
              <a:t>7.5%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021116" y="2999232"/>
            <a:ext cx="3335731" cy="7315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021116" y="2999232"/>
            <a:ext cx="250179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893100" y="3072384"/>
            <a:ext cx="3591763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893100" y="3072384"/>
            <a:ext cx="3591763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984540" y="3072384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Drill-down 횟수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021116" y="3438144"/>
            <a:ext cx="411480" cy="137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1회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441740" y="3465575"/>
            <a:ext cx="2448763" cy="82296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441740" y="3465575"/>
            <a:ext cx="947908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936224" y="3438144"/>
            <a:ext cx="411480" cy="137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12%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21116" y="3607308"/>
            <a:ext cx="411480" cy="137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2회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441740" y="3634739"/>
            <a:ext cx="2448763" cy="82296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441740" y="3634739"/>
            <a:ext cx="2448763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936224" y="3607308"/>
            <a:ext cx="411480" cy="137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31%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21116" y="3776472"/>
            <a:ext cx="411480" cy="137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3회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441740" y="3803904"/>
            <a:ext cx="2448763" cy="82296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441740" y="3803904"/>
            <a:ext cx="2211786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936224" y="3776472"/>
            <a:ext cx="411480" cy="137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28%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021116" y="3945635"/>
            <a:ext cx="411480" cy="137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4회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41740" y="3973068"/>
            <a:ext cx="2448763" cy="82296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441740" y="3973068"/>
            <a:ext cx="1342870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936224" y="3945635"/>
            <a:ext cx="411480" cy="137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17%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021116" y="4114800"/>
            <a:ext cx="411480" cy="137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5회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441740" y="4142232"/>
            <a:ext cx="2448763" cy="82296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441740" y="4142232"/>
            <a:ext cx="947908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936224" y="4114800"/>
            <a:ext cx="411480" cy="1371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444444"/>
                </a:solidFill>
                <a:latin typeface="맑은 고딕"/>
              </a:rPr>
              <a:t>12%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893100" y="4187952"/>
            <a:ext cx="3591763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893100" y="4187952"/>
            <a:ext cx="3591763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984540" y="4187952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문제 소스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021116" y="4590288"/>
            <a:ext cx="8229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AI 출제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853220" y="4622292"/>
            <a:ext cx="1991563" cy="82296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853220" y="4622292"/>
            <a:ext cx="1354262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917936" y="4590288"/>
            <a:ext cx="43891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68%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021116" y="4846320"/>
            <a:ext cx="8229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직접 입력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853220" y="4878324"/>
            <a:ext cx="1991563" cy="82296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53220" y="4878324"/>
            <a:ext cx="418228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917936" y="4846320"/>
            <a:ext cx="43891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21%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021116" y="5102352"/>
            <a:ext cx="822960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사진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53220" y="5134356"/>
            <a:ext cx="1991563" cy="82296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853220" y="5134356"/>
            <a:ext cx="219071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917936" y="5102352"/>
            <a:ext cx="438912" cy="14630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11%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OCR 실패율 21% 는 사진 문제 기능 자체를 다시 볼 신호다. 대시보드 알림으로도 올라간다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ADM-011 · 프롬프트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화면에서 고치지 않는다. 보기와 되돌리기만 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관리 ›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" y="3566159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프롬프트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운영자 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1499616"/>
            <a:ext cx="5765657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85416" y="1499616"/>
            <a:ext cx="5765657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76856" y="149961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운영 중인 버전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95144" y="1865376"/>
            <a:ext cx="5546201" cy="256032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59152" y="1865376"/>
            <a:ext cx="115167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단계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2266" y="1865376"/>
            <a:ext cx="48230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버전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6011" y="1865376"/>
            <a:ext cx="6735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배포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1004" y="1865376"/>
            <a:ext cx="134292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모델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5367" y="1865376"/>
            <a:ext cx="57792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실패율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4736" y="1865376"/>
            <a:ext cx="769177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2295144" y="2121408"/>
            <a:ext cx="5546201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59152" y="2121408"/>
            <a:ext cx="115167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00 OCR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2266" y="2121408"/>
            <a:ext cx="48230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v1.1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6011" y="2121408"/>
            <a:ext cx="6735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08/31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41004" y="2121408"/>
            <a:ext cx="134292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gemini-3.6-flash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5367" y="2121408"/>
            <a:ext cx="57792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21.0%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4736" y="2121408"/>
            <a:ext cx="769177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되돌리기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95144" y="2377440"/>
            <a:ext cx="5546201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59152" y="2377440"/>
            <a:ext cx="115167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02 문제검증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2266" y="2377440"/>
            <a:ext cx="48230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v1.3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76011" y="2377440"/>
            <a:ext cx="6735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08/31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41004" y="2377440"/>
            <a:ext cx="134292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gemini-3.6-flash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5367" y="2377440"/>
            <a:ext cx="57792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4736" y="2377440"/>
            <a:ext cx="769177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되돌리기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95144" y="2633472"/>
            <a:ext cx="5546201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59152" y="2633472"/>
            <a:ext cx="115167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03 튜터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2266" y="2633472"/>
            <a:ext cx="48230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v1.4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76011" y="2633472"/>
            <a:ext cx="6735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09/01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41004" y="2633472"/>
            <a:ext cx="134292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gemini-3.6-flash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5367" y="2633472"/>
            <a:ext cx="57792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0.2%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4736" y="2633472"/>
            <a:ext cx="769177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되돌리기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95144" y="2889504"/>
            <a:ext cx="5546201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59152" y="2889504"/>
            <a:ext cx="115167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04 평가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02266" y="2889504"/>
            <a:ext cx="48230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v1.2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76011" y="2889504"/>
            <a:ext cx="6735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08/28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41004" y="2889504"/>
            <a:ext cx="134292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gemini-2.5-flash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75367" y="2889504"/>
            <a:ext cx="57792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1.8%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44736" y="2889504"/>
            <a:ext cx="769177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되돌리기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95144" y="3145536"/>
            <a:ext cx="5546201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59152" y="3145536"/>
            <a:ext cx="115167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05 기억 갱신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02266" y="3145536"/>
            <a:ext cx="48230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v1.1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76011" y="3145536"/>
            <a:ext cx="6735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08/28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41004" y="3145536"/>
            <a:ext cx="134292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gemini-2.5-flash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75367" y="3145536"/>
            <a:ext cx="57792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0.3%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44736" y="3145536"/>
            <a:ext cx="769177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되돌리기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95144" y="3401568"/>
            <a:ext cx="5546201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59152" y="3401568"/>
            <a:ext cx="115167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06 다음 문제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02266" y="3401568"/>
            <a:ext cx="482305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v1.2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76011" y="3401568"/>
            <a:ext cx="673553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08/30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41004" y="3401568"/>
            <a:ext cx="134292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gemini-3.6-flash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75367" y="3401568"/>
            <a:ext cx="577929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0.4%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44736" y="3401568"/>
            <a:ext cx="769177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되돌리기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79089" y="1499616"/>
            <a:ext cx="3405774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079089" y="1499616"/>
            <a:ext cx="3405774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70529" y="149961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장애 시 대체 모델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07105" y="1883664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02 문제검증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42129" y="1883664"/>
            <a:ext cx="180557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06137" y="1883664"/>
            <a:ext cx="1677558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gemini-2.5-flash ▾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07105" y="2212848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03 튜터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42129" y="2212848"/>
            <a:ext cx="180557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06137" y="2212848"/>
            <a:ext cx="1677558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gemini-2.5-flash ▾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07105" y="2542032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04 평가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542129" y="2542032"/>
            <a:ext cx="180557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6137" y="2542032"/>
            <a:ext cx="1677558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gemini-2.5-flash ▾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79089" y="2843784"/>
            <a:ext cx="3405774" cy="1508760"/>
          </a:xfrm>
          <a:prstGeom prst="rect">
            <a:avLst/>
          </a:prstGeom>
          <a:solidFill>
            <a:srgbClr val="F2F7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07105" y="2926080"/>
            <a:ext cx="3149742" cy="1371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왜 화면에서 안 고치는가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프롬프트는 prompt-lab 에서 시험하고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docs/prompts 에 반영한 뒤 PR 로 배포한다.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어드민에서 바로 고치면 검토 없이 전체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학생에게 나간다.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어드민에는 지금 무엇이 돌고 있는지 보기와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D4ED8"/>
                </a:solidFill>
                <a:latin typeface="맑은 고딕"/>
              </a:rPr>
              <a:t>문제가 생겼을 때 되돌리기만 둔다.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85416" y="3621024"/>
            <a:ext cx="5765657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185416" y="3621024"/>
            <a:ext cx="5765657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276856" y="3621024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배포 이력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95144" y="3968496"/>
            <a:ext cx="5546201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59152" y="3968496"/>
            <a:ext cx="125763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일시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08228" y="3968496"/>
            <a:ext cx="125763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단계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57304" y="3968496"/>
            <a:ext cx="80794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버전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56688" y="3968496"/>
            <a:ext cx="957841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배포자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05969" y="3968496"/>
            <a:ext cx="80794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PR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95144" y="4206240"/>
            <a:ext cx="5546201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59152" y="4206240"/>
            <a:ext cx="125763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09/01 10:22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08228" y="4206240"/>
            <a:ext cx="125763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03 튜터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57304" y="4206240"/>
            <a:ext cx="80794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v1.3 → v1.4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56688" y="4206240"/>
            <a:ext cx="957841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김PM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05969" y="4206240"/>
            <a:ext cx="80794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#28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95144" y="4443983"/>
            <a:ext cx="5546201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359152" y="4443983"/>
            <a:ext cx="125763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08/31 16:40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708228" y="4443983"/>
            <a:ext cx="125763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02 문제검증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57304" y="4443983"/>
            <a:ext cx="80794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v1.2 → v1.3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56688" y="4443983"/>
            <a:ext cx="957841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김PM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005969" y="4443983"/>
            <a:ext cx="80794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#25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295144" y="4681727"/>
            <a:ext cx="5546201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359152" y="4681727"/>
            <a:ext cx="125763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08/30 09:15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708228" y="4681727"/>
            <a:ext cx="1257636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06 다음 문제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57304" y="4681727"/>
            <a:ext cx="80794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v1.1 → v1.2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956688" y="4681727"/>
            <a:ext cx="957841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박PM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005969" y="4681727"/>
            <a:ext cx="80794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#21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되돌리기도 조치다. 사유가 남고 감사 로그에 기록된다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ADM-012 · 운영자 계정 ·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COM-002 에 AdminUser 엔티티가 없다. 이게 실질적인 첫 번째 선행 조건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4215" y="310896"/>
            <a:ext cx="2194560" cy="256032"/>
          </a:xfrm>
          <a:prstGeom prst="roundRect">
            <a:avLst>
              <a:gd name="adj" fmla="val 6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310896"/>
            <a:ext cx="219456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엔티티 도입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118311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932688"/>
            <a:ext cx="27432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</a:rPr>
              <a:t>AIPM 운영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932688"/>
            <a:ext cx="54864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8C8CC"/>
                </a:solidFill>
                <a:latin typeface="맑은 고딕"/>
              </a:rPr>
              <a:t>시스템 › 운영자 계정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32" y="932688"/>
            <a:ext cx="2157984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C8C8CC"/>
                </a:solidFill>
                <a:latin typeface="맑은 고딕"/>
              </a:rPr>
              <a:t>김PM · 전체 권한  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16736"/>
            <a:ext cx="1481328" cy="5084064"/>
          </a:xfrm>
          <a:prstGeom prst="rect">
            <a:avLst/>
          </a:prstGeom>
          <a:solidFill>
            <a:srgbClr val="F0F0F2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44752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162763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84251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퍼널 · 리텐션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057400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AI 품질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2722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252374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70662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계정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29215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학생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2921508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136391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구독 · 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351275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세션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566159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프롬프트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378104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신고 문제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032504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응대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215384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 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" y="443026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피드백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681728"/>
            <a:ext cx="12984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8A8A8A"/>
                </a:solidFill>
                <a:latin typeface="맑은 고딕"/>
              </a:rPr>
              <a:t>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" y="4864608"/>
            <a:ext cx="1371600" cy="214884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864608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맑은 고딕"/>
              </a:rPr>
              <a:t>운영자 계정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079492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공지 · 발송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5294376"/>
            <a:ext cx="1024128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감사 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5294376"/>
            <a:ext cx="310896" cy="2148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1">
                <a:solidFill>
                  <a:srgbClr val="6D28D9"/>
                </a:solidFill>
                <a:latin typeface="맑은 고딕"/>
              </a:rPr>
              <a:t>잠금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85416" y="1499616"/>
            <a:ext cx="929944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9424" y="1499616"/>
            <a:ext cx="112153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운영자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2395" y="1499616"/>
            <a:ext cx="206495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이메일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8789" y="1499616"/>
            <a:ext cx="112153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권한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1760" y="1499616"/>
            <a:ext cx="58243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2FA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5633" y="1499616"/>
            <a:ext cx="1256306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마지막 접속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3379" y="1499616"/>
            <a:ext cx="8519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>상태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6802" y="1499616"/>
            <a:ext cx="16606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맑은 고딕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2185416" y="1773936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49424" y="1773936"/>
            <a:ext cx="112153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김PM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62395" y="1773936"/>
            <a:ext cx="206495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ki**@aipm.kr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18789" y="1773936"/>
            <a:ext cx="112153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전체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1760" y="1773936"/>
            <a:ext cx="58243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05633" y="1773936"/>
            <a:ext cx="1256306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2시간 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3379" y="1773936"/>
            <a:ext cx="8519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활성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96802" y="1773936"/>
            <a:ext cx="16606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권한 변경  차단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85416" y="2048255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49424" y="2048255"/>
            <a:ext cx="112153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박PM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62395" y="2048255"/>
            <a:ext cx="206495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pa**@aipm.kr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18789" y="2048255"/>
            <a:ext cx="112153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1760" y="2048255"/>
            <a:ext cx="58243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05633" y="2048255"/>
            <a:ext cx="1256306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어제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53379" y="2048255"/>
            <a:ext cx="8519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활성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96802" y="2048255"/>
            <a:ext cx="16606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권한 변경  차단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85416" y="2322575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49424" y="2322575"/>
            <a:ext cx="112153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최PM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62395" y="2322575"/>
            <a:ext cx="206495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ch**@aipm.kr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18789" y="2322575"/>
            <a:ext cx="112153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읽기전용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31760" y="2322575"/>
            <a:ext cx="58243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05633" y="2322575"/>
            <a:ext cx="1256306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3일 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53379" y="2322575"/>
            <a:ext cx="8519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활성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96802" y="2322575"/>
            <a:ext cx="16606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권한 변경  차단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85416" y="2596895"/>
            <a:ext cx="929944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49424" y="2596895"/>
            <a:ext cx="112153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이**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62395" y="2596895"/>
            <a:ext cx="206495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le**@aipm.kr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18789" y="2596895"/>
            <a:ext cx="1121531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CS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1760" y="2596895"/>
            <a:ext cx="582433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91C1C"/>
                </a:solidFill>
                <a:latin typeface="맑은 고딕"/>
              </a:rPr>
              <a:t>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05633" y="2596895"/>
            <a:ext cx="1256306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30일 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53379" y="2596895"/>
            <a:ext cx="85198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맑은 고딕"/>
              </a:rPr>
              <a:t>휴면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96802" y="2596895"/>
            <a:ext cx="166062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D4ED8"/>
                </a:solidFill>
                <a:latin typeface="맑은 고딕"/>
              </a:rPr>
              <a:t>권한 변경  차단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85416" y="3008376"/>
            <a:ext cx="92994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185416" y="3008376"/>
            <a:ext cx="9299448" cy="27432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76856" y="3008376"/>
            <a:ext cx="36576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맑은 고딕"/>
              </a:rPr>
              <a:t>권한 등급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44383" y="3008376"/>
            <a:ext cx="37490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등급별로 보이는 범위를 처음부터 나눈다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13432" y="3374136"/>
            <a:ext cx="292912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313432" y="3374136"/>
            <a:ext cx="2929128" cy="36576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423160" y="3483864"/>
            <a:ext cx="2709672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7F3D"/>
                </a:solidFill>
                <a:latin typeface="맑은 고딕"/>
              </a:rPr>
              <a:t>읽기전용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23160" y="3758183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대시보드 · 퍼널 · 리텐션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23160" y="3977639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AI 품질 · 비용 (집계만)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23160" y="4197096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개인 식별 정보 안 보임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23160" y="4416552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조치 패널 자체가 안 보임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70576" y="3374136"/>
            <a:ext cx="292912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370576" y="3374136"/>
            <a:ext cx="2929128" cy="365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0304" y="3483864"/>
            <a:ext cx="2709672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맑은 고딕"/>
              </a:rPr>
              <a:t>CS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0304" y="3758183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위 전부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0304" y="3977639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계정 · 학생 기본정보 (마스킹)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0304" y="4197096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구독 · 결제 · 세션 조치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0304" y="4416552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CS 문의 응대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0304" y="4636008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아동 대화 원문 · 사진 불가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7720" y="3374136"/>
            <a:ext cx="292912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27720" y="3374136"/>
            <a:ext cx="2929128" cy="365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537448" y="3483864"/>
            <a:ext cx="2709672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D28D9"/>
                </a:solidFill>
                <a:latin typeface="맑은 고딕"/>
              </a:rPr>
              <a:t>전체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37448" y="3758183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위 전부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37448" y="3977639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아동 대화 원문 열람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37448" y="4197096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문제 사진 열람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537448" y="4416552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학생 삭제 · 계정 탈퇴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37448" y="4636008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운영자 권한 변경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37448" y="4855464"/>
            <a:ext cx="2709672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맑은 고딕"/>
              </a:rPr>
              <a:t>·  열람 시 감사 로그 필수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2FA 미설정 · 30일 이상 미접속 계정은 목록 상단에 경고로 올린다. 퇴사자 즉시 차단이 가능해야 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공통 패턴 · 조치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화면 목록보다 이게 중요하다. 모든 조치가 같은 모달을 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1183112" cy="5468112"/>
          </a:xfrm>
          <a:prstGeom prst="rect">
            <a:avLst/>
          </a:prstGeom>
          <a:solidFill>
            <a:srgbClr val="EEEEF0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83112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A8A8A"/>
                </a:solidFill>
                <a:latin typeface="맑은 고딕"/>
              </a:rPr>
              <a:t>(뒤 화면은 흐리게 · 클릭 불가)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34156" y="1618488"/>
            <a:ext cx="5120640" cy="3794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34156" y="1618488"/>
            <a:ext cx="5120640" cy="384048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8748" y="1618488"/>
            <a:ext cx="36576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8748" y="2148840"/>
            <a:ext cx="47914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무료체험을 7일 연장합니다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98748" y="2514600"/>
            <a:ext cx="4791455" cy="86868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5052" y="2606040"/>
            <a:ext cx="278928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4360" y="2606040"/>
            <a:ext cx="17995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학생 s_1533 (김** 계정)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5052" y="2843784"/>
            <a:ext cx="278928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현재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4360" y="2843784"/>
            <a:ext cx="17995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D9 /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5052" y="3081528"/>
            <a:ext cx="2789285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변경 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4360" y="3081528"/>
            <a:ext cx="17995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맑은 고딕"/>
              </a:rPr>
              <a:t>D9 / 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8748" y="3493008"/>
            <a:ext cx="109728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1C1C"/>
                </a:solidFill>
                <a:latin typeface="맑은 고딕"/>
              </a:rPr>
              <a:t>사유 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98748" y="3703320"/>
            <a:ext cx="479145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8476" y="3703320"/>
            <a:ext cx="457200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CS #412 · AI 장애로 3일간 학습 불가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8748" y="4123944"/>
            <a:ext cx="4791455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CS 번호 또는 사유를 반드시 적습니다. 감사 로그에 그대로 남습니다.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98748" y="4398264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8204" y="4361688"/>
            <a:ext cx="3657600" cy="2011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위 내용을 확인했습니다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3076" y="4745736"/>
            <a:ext cx="100584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4745736"/>
            <a:ext cx="100584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취소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20356" y="4745736"/>
            <a:ext cx="1069848" cy="292608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0356" y="4745736"/>
            <a:ext cx="1069848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4836" y="1664208"/>
            <a:ext cx="2482596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맑은 고딕"/>
              </a:rPr>
              <a:t>모든 조치에 공통으로 붙는 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4836" y="1984248"/>
            <a:ext cx="248259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4563" y="2057400"/>
            <a:ext cx="22631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사유 입력 필수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4563" y="2258568"/>
            <a:ext cx="226314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나중에 "왜 이렇게 됐지" 에 답할 수 있어야 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4836" y="2624328"/>
            <a:ext cx="248259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4563" y="2697480"/>
            <a:ext cx="22631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2단계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4563" y="2898648"/>
            <a:ext cx="226314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되돌릴 수 없는 것은 체크박스를 하나 더 둔다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4836" y="3264408"/>
            <a:ext cx="248259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4563" y="3337560"/>
            <a:ext cx="22631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감사 로그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4563" y="3538728"/>
            <a:ext cx="226314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누가 · 언제 · 무엇을 · 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74836" y="3904488"/>
            <a:ext cx="248259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84563" y="3977640"/>
            <a:ext cx="22631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대량 작업 금지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84563" y="4178808"/>
            <a:ext cx="226314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한 번에 한 건. 일괄 처리는 scripts/ops 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74836" y="4544568"/>
            <a:ext cx="248259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84563" y="4617720"/>
            <a:ext cx="2263140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D4ED8"/>
                </a:solidFill>
                <a:latin typeface="맑은 고딕"/>
              </a:rPr>
              <a:t>서비스 레이어 경유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84563" y="4818888"/>
            <a:ext cx="226314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8A8A"/>
                </a:solidFill>
                <a:latin typeface="맑은 고딕"/>
              </a:rPr>
              <a:t>DB 직접 UPDATE 금지 · lib/services 만 호출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마지막 줄이 특히 중요하다. 어드민이 테이블을 직접 고치면 각 PM 이 만든 규칙을 우회하게 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만들기 전에 정해야 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8229600" cy="2377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A8A8A"/>
                </a:solidFill>
                <a:latin typeface="맑은 고딕"/>
              </a:rPr>
              <a:t>버튼을 그리는 건 쉽다. 그 버튼을 눌러도 되는지가 안 정해져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359359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3593592" cy="45720"/>
          </a:xfrm>
          <a:prstGeom prst="rect">
            <a:avLst/>
          </a:prstGeom>
          <a:solidFill>
            <a:srgbClr val="157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25296"/>
            <a:ext cx="3300984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7F3D"/>
                </a:solidFill>
                <a:latin typeface="맑은 고딕"/>
              </a:rPr>
              <a:t>지금 정할 수 있는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609344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AdminUser 엔티티 도입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47088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권한 등급 3단계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084832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AuditLog 도입 여부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322576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조치 사유 필수 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560320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서비스 레이어 경유 원칙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798063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CS 문의 접수 경로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035807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피드백 수집 시점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" y="3950208"/>
            <a:ext cx="330098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3950208"/>
            <a:ext cx="330098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57F3D"/>
                </a:solidFill>
                <a:latin typeface="맑은 고딕"/>
              </a:rPr>
              <a:t>COM-002 · 팀 합의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051560"/>
            <a:ext cx="359359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051560"/>
            <a:ext cx="3593592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1225296"/>
            <a:ext cx="3300984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91C1C"/>
                </a:solidFill>
                <a:latin typeface="맑은 고딕"/>
              </a:rPr>
              <a:t>COM-001 개정이 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1609344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Student Memory 운영자 초기화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1847088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난이도 수동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322576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§19 는 "세션 종료 시 초기화 금지"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2560320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만 정했다. 운영자가 손으로 하는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2798063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것은 정의가 없다.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43984" y="3950208"/>
            <a:ext cx="330098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3984" y="3950208"/>
            <a:ext cx="330098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91C1C"/>
                </a:solidFill>
                <a:latin typeface="맑은 고딕"/>
              </a:rPr>
              <a:t>PM 전원 합의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051560"/>
            <a:ext cx="359359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051560"/>
            <a:ext cx="3593592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1225296"/>
            <a:ext cx="3300984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맑은 고딕"/>
              </a:rPr>
              <a:t>COM-007 이 막고 있는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1609344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학생 삭제 · 계정 탈퇴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1847088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AI 대화 원문 열람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2084832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문제 사진 열람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2322576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감사 로그 범위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2560320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CS 대응 시 부모 동의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3035807"/>
            <a:ext cx="3300984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맑은 고딕"/>
              </a:rPr>
              <a:t>·  → ADM 영역 전체가 여기 걸려 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38744" y="3950208"/>
            <a:ext cx="3300984" cy="237744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8744" y="3950208"/>
            <a:ext cx="3300984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D28D9"/>
                </a:solidFill>
                <a:latin typeface="맑은 고딕"/>
              </a:rPr>
              <a:t>COM-007 §7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526280"/>
            <a:ext cx="11183112" cy="1234440"/>
          </a:xfrm>
          <a:prstGeom prst="rect">
            <a:avLst/>
          </a:prstGeom>
          <a:solidFill>
            <a:srgbClr val="F7F7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626864"/>
            <a:ext cx="10817352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맑은 고딕"/>
              </a:rPr>
              <a:t>지금 당장 해야 할 것 — 화면이 아니라 로그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882896"/>
            <a:ext cx="10817352" cy="7772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어드민을 나중에 만들어도 그때 남아 있는 로그만 볼 수 있습니다. 지금 이벤트를 안 남기면 3개월 뒤에 어드민을 만들어도 화면이 텅 빕니다.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444444"/>
                </a:solidFill>
                <a:latin typeface="맑은 고딕"/>
              </a:rPr>
              <a:t>세션 시작·종료·중단(사유 코드)  ·  AI 호출 실패와 검증 실패(단계별)  ·  문제 완료 상태 전이  ·  퍼널 단계 도달(특히 drill-down 회차)  ·  호출별 토큰 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111831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맑은 고딕"/>
              </a:rPr>
              <a:t>전부 개인 식별 없이 남길 수 있다 · lib/errors/** · lib/services/event.ts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