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부모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05840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8A8B0"/>
                </a:solidFill>
                <a:latin typeface="맑은 고딕"/>
              </a:rPr>
              <a:t>PAR · RPT · BIL · MY  ·  22개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520440"/>
            <a:ext cx="1463040" cy="274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058400" cy="1280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보호자 PIN 게이트 · 하단 4탭 · 구독은 학생 단위, 결제는 부모 단위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내부 지표를 부모 어휘로 바꿔 보여준다. 점수를 그대로 노출하지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707A"/>
                </a:solidFill>
                <a:latin typeface="맑은 고딕"/>
              </a:rPr>
              <a:t>2026-09-03 · 와이어프레임 초안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부모 영역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학생 영역에서 넘어올 때 PIN 을 거친다. 돌아갈 때는 안 거친다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2286000" cy="7772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학생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210312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STU-004 학생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3350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51560"/>
            <a:ext cx="2286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170432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맑은 고딕"/>
              </a:rPr>
              <a:t>PAR-001 보호자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17320"/>
            <a:ext cx="210312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middleware 가 게이트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13350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051560"/>
            <a:ext cx="2286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608" y="1170432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PAR-002 부모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1417320"/>
            <a:ext cx="210312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학생 카드 목록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051560"/>
            <a:ext cx="338328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부모 → 학생 이동은 PIN 재입력 없이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/students 로 간다.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PAR-003 에서 PIN 을 설정·변경한다.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5740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057400"/>
            <a:ext cx="2644902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212848"/>
            <a:ext cx="238887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맑은 고딕"/>
              </a:rPr>
              <a:t>[홈]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3422" y="2231136"/>
            <a:ext cx="78638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3개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" y="2542032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2542032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PAR-002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542032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부모 HOME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" y="281635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281635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PAR-001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81635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보호자 PIN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" y="309067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09067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PAR-003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09067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PIN 설정·변경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48990" y="205740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8990" y="2057400"/>
            <a:ext cx="2644902" cy="45720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7006" y="2212848"/>
            <a:ext cx="238887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7F3D"/>
                </a:solidFill>
                <a:latin typeface="맑은 고딕"/>
              </a:rPr>
              <a:t>[리포트]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9492" y="2231136"/>
            <a:ext cx="78638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3개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7006" y="2542032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8446" y="2542032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RPT-001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3390" y="2542032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주간 성장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7006" y="281635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8446" y="281635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RPT-002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3390" y="281635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리포트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7006" y="309067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8446" y="309067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RPT-003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3390" y="309067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지난 리포트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5060" y="205740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5060" y="2057400"/>
            <a:ext cx="2644902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3076" y="2212848"/>
            <a:ext cx="238887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맑은 고딕"/>
              </a:rPr>
              <a:t>[구독]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5562" y="2231136"/>
            <a:ext cx="78638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6개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3076" y="2542032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4516" y="2542032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BIL-001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09460" y="2542032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구독·결제 HOME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3076" y="281635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4516" y="281635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BIL-002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9460" y="281635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구독 신청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23076" y="309067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4516" y="309067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BIL-003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9460" y="309067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 진행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3076" y="336499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4516" y="336499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BIL-004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09460" y="336499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구독 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3076" y="363931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4516" y="363931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BIL-005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9460" y="363931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결제수단 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23076" y="391363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4516" y="391363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BIL-006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09460" y="391363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결제내역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41130" y="2057400"/>
            <a:ext cx="264490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41130" y="2057400"/>
            <a:ext cx="2644902" cy="45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69146" y="2212848"/>
            <a:ext cx="238887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맑은 고딕"/>
              </a:rPr>
              <a:t>[마이]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71632" y="2231136"/>
            <a:ext cx="78638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10개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69146" y="2542032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60586" y="2542032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MY-001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55530" y="2542032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마이페이지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69146" y="281635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60586" y="281635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MY-002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55530" y="281635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학생 관리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69146" y="309067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60586" y="309067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MY-003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55530" y="309067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D28D9"/>
                </a:solidFill>
                <a:latin typeface="맑은 고딕"/>
              </a:rPr>
              <a:t>학생 프로필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69146" y="336499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60586" y="336499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MY-004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55530" y="336499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학생 추가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69146" y="363931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60586" y="363931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MY-005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55530" y="363931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부모 회원정보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69146" y="391363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60586" y="391363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MY-006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55530" y="391363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마케팅 수신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69146" y="418795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60586" y="418795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8A8A8A"/>
                </a:solidFill>
                <a:latin typeface="맑은 고딕"/>
              </a:rPr>
              <a:t>MY-007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55530" y="418795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알림 설정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69146" y="446227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60586" y="446227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MY-008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55530" y="446227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D28D9"/>
                </a:solidFill>
                <a:latin typeface="맑은 고딕"/>
              </a:rPr>
              <a:t>계정 관리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69146" y="473659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60586" y="473659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MY-009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55530" y="473659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D28D9"/>
                </a:solidFill>
                <a:latin typeface="맑은 고딕"/>
              </a:rPr>
              <a:t>회원탈퇴 안내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69146" y="5010911"/>
            <a:ext cx="2388870" cy="2468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60586" y="5010911"/>
            <a:ext cx="65836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MY-010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55530" y="5010911"/>
            <a:ext cx="156591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D28D9"/>
                </a:solidFill>
                <a:latin typeface="맑은 고딕"/>
              </a:rPr>
              <a:t>회원탈퇴 확인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2920" y="5440680"/>
            <a:ext cx="1371600" cy="219456"/>
          </a:xfrm>
          <a:prstGeom prst="roundRect">
            <a:avLst>
              <a:gd name="adj" fmla="val 3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5440680"/>
            <a:ext cx="13716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COM-007 대기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11680" y="5440680"/>
            <a:ext cx="96926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마이 10개 중 4개가 개인정보 정책에 걸려 있다 — 학생 삭제 · 계정 관리 · 탈퇴 2단계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부모 하단 Navigation 은 4탭 고정. 학생 영역에는 하단 Navigation 이 없다 (COM-003 §11)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화면 수와 사용 빈도가 거꾸로다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가장 많이 만든 곳을 가장 안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3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RPT ·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103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화면 3개</a:t>
            </a:r>
          </a:p>
        </p:txBody>
      </p:sp>
      <p:sp>
        <p:nvSpPr>
          <p:cNvPr id="8" name="Oval 7"/>
          <p:cNvSpPr/>
          <p:nvPr/>
        </p:nvSpPr>
        <p:spPr>
          <a:xfrm>
            <a:off x="2834640" y="137160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137160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137160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80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31920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60" y="1371600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280160"/>
            <a:ext cx="2011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7F3D"/>
                </a:solidFill>
                <a:latin typeface="맑은 고딕"/>
              </a:rPr>
              <a:t>매주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572768"/>
            <a:ext cx="1828800" cy="11887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572768"/>
            <a:ext cx="1828800" cy="118872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280160"/>
            <a:ext cx="4572000" cy="5486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제품 가치의 대부분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84832"/>
            <a:ext cx="11183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176272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BIL · 구독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450592"/>
            <a:ext cx="2103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화면 6개</a:t>
            </a:r>
          </a:p>
        </p:txBody>
      </p:sp>
      <p:sp>
        <p:nvSpPr>
          <p:cNvPr id="25" name="Oval 24"/>
          <p:cNvSpPr/>
          <p:nvPr/>
        </p:nvSpPr>
        <p:spPr>
          <a:xfrm>
            <a:off x="2834640" y="2267712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017520" y="2267712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00400" y="2267712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83280" y="2267712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66160" y="2267712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49039" y="2267712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31920" y="2267712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0" y="2267712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97680" y="2267712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80560" y="2267712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176272"/>
            <a:ext cx="2011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맑은 고딕"/>
              </a:rPr>
              <a:t>결제할 때만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468880"/>
            <a:ext cx="1828800" cy="11887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2468880"/>
            <a:ext cx="329184" cy="11887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2176272"/>
            <a:ext cx="4572000" cy="5486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1년에 몇 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980944"/>
            <a:ext cx="11183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07238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MY · 마이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346704"/>
            <a:ext cx="2103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화면 10개</a:t>
            </a:r>
          </a:p>
        </p:txBody>
      </p:sp>
      <p:sp>
        <p:nvSpPr>
          <p:cNvPr id="42" name="Oval 41"/>
          <p:cNvSpPr/>
          <p:nvPr/>
        </p:nvSpPr>
        <p:spPr>
          <a:xfrm>
            <a:off x="283464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01752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0040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38328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6616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49039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93192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11480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9768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80560" y="3163824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0" y="3072384"/>
            <a:ext cx="2011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91C1C"/>
                </a:solidFill>
                <a:latin typeface="맑은 고딕"/>
              </a:rPr>
              <a:t>평생 한두 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3364992"/>
            <a:ext cx="1828800" cy="11887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6320" y="3364992"/>
            <a:ext cx="91440" cy="11887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3072384"/>
            <a:ext cx="4572000" cy="5486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결제수단 · 알림 · 탈퇴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877056"/>
            <a:ext cx="11183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968496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PAR · 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242816"/>
            <a:ext cx="2103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화면 3개</a:t>
            </a:r>
          </a:p>
        </p:txBody>
      </p:sp>
      <p:sp>
        <p:nvSpPr>
          <p:cNvPr id="59" name="Oval 58"/>
          <p:cNvSpPr/>
          <p:nvPr/>
        </p:nvSpPr>
        <p:spPr>
          <a:xfrm>
            <a:off x="2834640" y="4059936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17520" y="4059936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200400" y="4059936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83280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66160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749039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31920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114800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297680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80560" y="4059936"/>
            <a:ext cx="137160" cy="13716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6320" y="3968496"/>
            <a:ext cx="2011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리포트 가는 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0" y="4261104"/>
            <a:ext cx="1828800" cy="11887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846320" y="4261104"/>
            <a:ext cx="1554480" cy="1188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3968496"/>
            <a:ext cx="4572000" cy="5486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허브 역할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910328"/>
            <a:ext cx="11183112" cy="960120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" y="5020056"/>
            <a:ext cx="1088136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D4ED8"/>
                </a:solidFill>
                <a:latin typeface="맑은 고딕"/>
              </a:rPr>
              <a:t>그래서 부모 HOME 이 중요하다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D4ED8"/>
                </a:solidFill>
                <a:latin typeface="맑은 고딕"/>
              </a:rPr>
              <a:t>부모가 이 앱을 여는 이유는 주간 리포트 하나다. 부모 HOME 이 리포트로 가는 통로 역할을 제대로 하면 나머지 19개는 묻혀도 괜찮다.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화면 수를 줄이자는 뜻이 아니다. 어디에 공을 들일지를 정하자는 뜻이다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PAR-001 · PAR-003 · 보호자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학생 영역과 부모 영역을 가르는 유일한 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PAR-001 보호자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21945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보호자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04288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보호자 PIN 4자리를 입력하세요</a:t>
            </a:r>
          </a:p>
        </p:txBody>
      </p:sp>
      <p:sp>
        <p:nvSpPr>
          <p:cNvPr id="13" name="Oval 12"/>
          <p:cNvSpPr/>
          <p:nvPr/>
        </p:nvSpPr>
        <p:spPr>
          <a:xfrm>
            <a:off x="1499616" y="2670048"/>
            <a:ext cx="146304" cy="146304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73936" y="2670048"/>
            <a:ext cx="146304" cy="146304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48256" y="2670048"/>
            <a:ext cx="146304" cy="14630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22576" y="2670048"/>
            <a:ext cx="146304" cy="146304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4983" y="3063240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063240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28216" y="3063240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28216" y="3063240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41448" y="3063240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1448" y="3063240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3" y="3538728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3538728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28216" y="3538728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28216" y="3538728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41448" y="3538728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3538728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" y="4014216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" y="4014216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28216" y="4014216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28216" y="4014216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41448" y="4014216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4014216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3" y="4489704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3" y="4489704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0F0F2"/>
                </a:solidFill>
                <a:latin typeface="맑은 고딕"/>
              </a:rPr>
              <a:t>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28216" y="4489704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28216" y="4489704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41448" y="4489704"/>
            <a:ext cx="603504" cy="402336"/>
          </a:xfrm>
          <a:prstGeom prst="roundRect">
            <a:avLst>
              <a:gd name="adj" fmla="val 20000"/>
            </a:avLst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1448" y="4489704"/>
            <a:ext cx="60350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5468112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PIN 을 잊으셨나요?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PAR-003 PIN 설정 · 변경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보호자 PIN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6744" y="1828800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현재 PIN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66744" y="2048255"/>
            <a:ext cx="2194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66744" y="2560320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새 PIN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66744" y="2779776"/>
            <a:ext cx="2194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66744" y="3291839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새 PIN 확인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66744" y="3511296"/>
            <a:ext cx="21945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66744" y="4023360"/>
            <a:ext cx="2194560" cy="402336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66744" y="4023360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66744" y="4572000"/>
            <a:ext cx="2194560" cy="566928"/>
          </a:xfrm>
          <a:prstGeom prst="rect">
            <a:avLst/>
          </a:prstGeom>
          <a:solidFill>
            <a:srgbClr val="FFFAF0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58183" y="4645152"/>
            <a:ext cx="2011679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B45309"/>
                </a:solidFill>
                <a:latin typeface="맑은 고딕"/>
              </a:rPr>
              <a:t>PIN 재설정 절차 미정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B45309"/>
                </a:solidFill>
                <a:latin typeface="맑은 고딕"/>
              </a:rPr>
              <a:t>무엇으로 본인을 확인할 것인가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1051560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0" y="1051560"/>
            <a:ext cx="45720" cy="10424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PIN 은 게이트일 뿐 로그인이 아니다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47104" y="1344168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이미 로그인된 부모 계정에서, 아이가 부모 영역에 들어가는 것을 막는 장치다.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보안 등급이 높을 필요는 없지만 아이가 못 뚫을 정도는 되어야 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게이트는 src/middleware.ts 가 담당한다 (COM-003 §11).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2203704"/>
            <a:ext cx="533095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0" y="2203704"/>
            <a:ext cx="45720" cy="1225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4" y="2276856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PIN 을 잊으면 부모가 갇힌다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47104" y="2496312"/>
            <a:ext cx="5056632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PIN 을 모르면 결제도 해지도 리포트 열람도 못 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생각보다 급한 CS 가 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COM-003 §5 는 "PIN 재설정 · Modal/Flow · 보호자 확인" 이라고만 적었다.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무엇으로 확인할지가 없다.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3538728"/>
            <a:ext cx="533095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538728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7104" y="361188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확인 수단 후보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7104" y="3831336"/>
            <a:ext cx="5056632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 비밀번호 재입력      가장 간단. 부모가 이미 아는 값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이메일 인증 링크          느리지만 확실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휴대폰 인증               가입 때 이미 받았다 (AUTH-004)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 비밀번호를 권한다. 아이는 모르고 부모는 안다.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부모 → 학생으로 돌아갈 때는 PIN 을 다시 묻지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PAR-002 · 부모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학생 카드에 이번 주 점을 넣자는 제안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310896"/>
            <a:ext cx="2286000" cy="256032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310896"/>
            <a:ext cx="2286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제안 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부모 HOME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우리 아이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1755648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민준 · 4학년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1819656"/>
            <a:ext cx="621792" cy="173736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1819656"/>
            <a:ext cx="621792" cy="1737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체험 D-5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204825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일</a:t>
            </a:r>
          </a:p>
        </p:txBody>
      </p:sp>
      <p:sp>
        <p:nvSpPr>
          <p:cNvPr id="26" name="Oval 25"/>
          <p:cNvSpPr/>
          <p:nvPr/>
        </p:nvSpPr>
        <p:spPr>
          <a:xfrm>
            <a:off x="946404" y="220370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20724" y="2203703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95044" y="220370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69364" y="2203703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43684" y="2203703"/>
            <a:ext cx="82296" cy="8229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18004" y="2203703"/>
            <a:ext cx="82296" cy="8229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92324" y="2203703"/>
            <a:ext cx="82296" cy="8229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235915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이번 주 27문제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2578608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57F3D"/>
                </a:solidFill>
                <a:latin typeface="맑은 고딕"/>
              </a:rPr>
              <a:t>최근 성장 · 이유 설명하기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304" y="2761488"/>
            <a:ext cx="54864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D4ED8"/>
                </a:solidFill>
                <a:latin typeface="맑은 고딕"/>
              </a:rPr>
              <a:t>리포트 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3035808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3099815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서연 · 6학년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9152" y="3099815"/>
            <a:ext cx="621792" cy="173736"/>
          </a:xfrm>
          <a:prstGeom prst="roundRect">
            <a:avLst>
              <a:gd name="adj" fmla="val 35000"/>
            </a:avLst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3099815"/>
            <a:ext cx="621792" cy="1737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구독중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996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28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8608" y="3328415"/>
            <a:ext cx="201168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>
                <a:solidFill>
                  <a:srgbClr val="8A8A8A"/>
                </a:solidFill>
                <a:latin typeface="맑은 고딕"/>
              </a:rPr>
              <a:t>일</a:t>
            </a:r>
          </a:p>
        </p:txBody>
      </p:sp>
      <p:sp>
        <p:nvSpPr>
          <p:cNvPr id="47" name="Oval 46"/>
          <p:cNvSpPr/>
          <p:nvPr/>
        </p:nvSpPr>
        <p:spPr>
          <a:xfrm>
            <a:off x="946404" y="348386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20724" y="348386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95044" y="348386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69364" y="348386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43684" y="3483863"/>
            <a:ext cx="82296" cy="82296"/>
          </a:xfrm>
          <a:prstGeom prst="ellipse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18004" y="3483863"/>
            <a:ext cx="82296" cy="8229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592324" y="3483863"/>
            <a:ext cx="82296" cy="8229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" y="363931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이번 주 27문제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" y="3858768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57F3D"/>
                </a:solidFill>
                <a:latin typeface="맑은 고딕"/>
              </a:rPr>
              <a:t>최근 성장 · 규칙 찾아내기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32304" y="4041648"/>
            <a:ext cx="54864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D4ED8"/>
                </a:solidFill>
                <a:latin typeface="맑은 고딕"/>
              </a:rPr>
              <a:t>리포트 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7824" y="431596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4315968"/>
            <a:ext cx="21945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+  학생 추가하기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5468112"/>
            <a:ext cx="23957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12697" y="5532120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A1A1A"/>
                </a:solidFill>
                <a:latin typeface="맑은 고딕"/>
              </a:rPr>
              <a:t>홈</a:t>
            </a:r>
          </a:p>
        </p:txBody>
      </p:sp>
      <p:sp>
        <p:nvSpPr>
          <p:cNvPr id="62" name="Oval 61"/>
          <p:cNvSpPr/>
          <p:nvPr/>
        </p:nvSpPr>
        <p:spPr>
          <a:xfrm>
            <a:off x="1611630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6172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리포트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693926" y="5495544"/>
            <a:ext cx="365760" cy="137160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93926" y="5495544"/>
            <a:ext cx="365760" cy="1371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맑은 고딕"/>
              </a:rPr>
              <a:t>새</a:t>
            </a:r>
          </a:p>
        </p:txBody>
      </p:sp>
      <p:sp>
        <p:nvSpPr>
          <p:cNvPr id="66" name="Oval 65"/>
          <p:cNvSpPr/>
          <p:nvPr/>
        </p:nvSpPr>
        <p:spPr>
          <a:xfrm>
            <a:off x="2210562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75104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구독</a:t>
            </a:r>
          </a:p>
        </p:txBody>
      </p:sp>
      <p:sp>
        <p:nvSpPr>
          <p:cNvPr id="68" name="Oval 67"/>
          <p:cNvSpPr/>
          <p:nvPr/>
        </p:nvSpPr>
        <p:spPr>
          <a:xfrm>
            <a:off x="2809494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74036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마이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1051560"/>
            <a:ext cx="80741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0" y="1051560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03904" y="1124712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지금 정의된 카드 내용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03904" y="1344168"/>
            <a:ext cx="7799831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 이름 / 학년 · 이번 주 참여량 · 최근 성장한 사고능력 ·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주간 성장 리포트 · 무료체험 / 구독 상태     (COM-003 §4.4)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0" y="1837943"/>
            <a:ext cx="807415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57600" y="1837943"/>
            <a:ext cx="45720" cy="1225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03904" y="1911095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맑은 고딕"/>
              </a:rPr>
              <a:t>제안 — "이번 주 참여량" 을 7일 점으로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03904" y="2130551"/>
            <a:ext cx="7799831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월 화 수 목 금 토 일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 ●  ◐  ●  ◐  ○  ─  ─      ← 채움 = 10문제 완료, 반 = 진행, 빈 = 안 함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학생에게는 STU-006 달력을 만들기로 했는데 부모에게는 대응물이 없었다.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새 화면을 만들지 않고 카드 안에서 해결한다.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3172968"/>
            <a:ext cx="80741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0" y="3172968"/>
            <a:ext cx="45720" cy="10424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03904" y="3246120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카드를 누르면 그 학생의 리포트로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03904" y="3465575"/>
            <a:ext cx="7799831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지금은 카드를 눌렀을 때 어디로 가는지 정의가 없다.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학생이 여러 명일 때 [리포트] 탭이 누구 것을 보여줄지도 정해져 있지 않다.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카드 → 그 학생의 주간 리포트 로 두면 둘 다 풀린다.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4325112"/>
            <a:ext cx="80741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57600" y="4325112"/>
            <a:ext cx="45720" cy="10424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03904" y="4398264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탭에 배지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03904" y="4617720"/>
            <a:ext cx="7799831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[리포트 •] 새 리포트가 왔을 때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[구독 D-3] 체험 종료가 가까울 때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부모가 앱을 열 이유가 탭에서 바로 보인다.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학생이 1명이면 카드도 1장이다. 그래도 카드 형태를 유지한다 — 둘째가 생기면 그대로 늘어난다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RPT-001 · 주간 성장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부모가 이 앱을 여는 진짜 이유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주간 성장 리포트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주간 성장 리포트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1737360"/>
            <a:ext cx="219456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1737360"/>
            <a:ext cx="12801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민준 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1737360"/>
            <a:ext cx="12801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9/1 ~ 9/7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2084831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13055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1  이번 주 한눈에 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2295144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5일 학습 · 34문제 · 27문제 스스로 해결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2542032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58775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2  가장 성장한 능력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2752344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이유 설명하기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2999232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04495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3  사고능력 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3209544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5개 지표 막대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456432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50215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4  자주 막힌 부분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666744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분수의 통분 11회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" y="3913631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3959351"/>
            <a:ext cx="201167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5  다음 주 방향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4123944"/>
            <a:ext cx="2011679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통분을 다른 방식으로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" y="4407407"/>
            <a:ext cx="219456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407407"/>
            <a:ext cx="21945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6  자세히 보기 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468112"/>
            <a:ext cx="23957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2697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홈</a:t>
            </a:r>
          </a:p>
        </p:txBody>
      </p:sp>
      <p:sp>
        <p:nvSpPr>
          <p:cNvPr id="36" name="Oval 35"/>
          <p:cNvSpPr/>
          <p:nvPr/>
        </p:nvSpPr>
        <p:spPr>
          <a:xfrm>
            <a:off x="1611630" y="5532120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6172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A1A1A"/>
                </a:solidFill>
                <a:latin typeface="맑은 고딕"/>
              </a:rPr>
              <a:t>리포트</a:t>
            </a:r>
          </a:p>
        </p:txBody>
      </p:sp>
      <p:sp>
        <p:nvSpPr>
          <p:cNvPr id="38" name="Oval 37"/>
          <p:cNvSpPr/>
          <p:nvPr/>
        </p:nvSpPr>
        <p:spPr>
          <a:xfrm>
            <a:off x="2210562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75104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구독</a:t>
            </a:r>
          </a:p>
        </p:txBody>
      </p:sp>
      <p:sp>
        <p:nvSpPr>
          <p:cNvPr id="40" name="Oval 39"/>
          <p:cNvSpPr/>
          <p:nvPr/>
        </p:nvSpPr>
        <p:spPr>
          <a:xfrm>
            <a:off x="2809494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4036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마이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1051560"/>
            <a:ext cx="807415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0" y="1051560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03904" y="1124712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순서가 이미 정해져 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3904" y="1344168"/>
            <a:ext cx="7799831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COM-003 §4.5 가 6단계 순서를 못 박았다.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한눈에 보기 → 가장 성장한 능력 → 사고능력 변화 → 자주 막힌 부분 →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다음 주 방향 → 자세히 보기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기본 화면은 성장 이야기 중심, 상세는 데이터 중심이다.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2386584"/>
            <a:ext cx="80741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0" y="2386584"/>
            <a:ext cx="45720" cy="10424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03904" y="2459736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상단 학생 선택기가 필요하다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03904" y="2679192"/>
            <a:ext cx="7799831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LearningReport 는 student_id 단위다. 아이가 셋이면 리포트도 셋이다.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[리포트] 탭을 눌렀을 때 누구 것을 보여줄지 정의가 없다.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가장 최근에 학습한 학생을 기본으로 두고 상단에서 바꾸게 한다.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3538728"/>
            <a:ext cx="80741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0" y="3538728"/>
            <a:ext cx="45720" cy="104241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03904" y="3611880"/>
            <a:ext cx="77998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맑은 고딕"/>
              </a:rPr>
              <a:t>3 (+7) 이 여기에 들어간다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03904" y="3831336"/>
            <a:ext cx="7799831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 세션 이어하기에서 정한 표기다.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"이번 주 한눈에 보기" 의 일별 표시에 9/2 · 3 (+7) 로 적는다.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그날 3문제를 풀고 나중에 7문제를 이어서 채웠다는 사실을 그대로 보여준다.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구독이 끝나도 기존 리포트는 계속 볼 수 있다 (COM-003 §4.6)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RPT-002 · RPT-003 · 리포트 상세와 지난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상세는 데이터 중심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RPT-002 리포트 상세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리포트 상세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773936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사고능력 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011679"/>
            <a:ext cx="21945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이유 설명하기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2176272"/>
            <a:ext cx="2194560" cy="91440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2176272"/>
            <a:ext cx="1207008" cy="91440"/>
          </a:xfrm>
          <a:prstGeom prst="rect">
            <a:avLst/>
          </a:prstGeom>
          <a:solidFill>
            <a:srgbClr val="C9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2176272"/>
            <a:ext cx="1645919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359151"/>
            <a:ext cx="21945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스스로 바로잡기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2523744"/>
            <a:ext cx="2194560" cy="91440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2523744"/>
            <a:ext cx="987552" cy="91440"/>
          </a:xfrm>
          <a:prstGeom prst="rect">
            <a:avLst/>
          </a:prstGeom>
          <a:solidFill>
            <a:srgbClr val="C9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" y="2523744"/>
            <a:ext cx="1316736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2706623"/>
            <a:ext cx="21945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규칙 찾아내기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" y="2871215"/>
            <a:ext cx="2194560" cy="91440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" y="2871215"/>
            <a:ext cx="1141171" cy="91440"/>
          </a:xfrm>
          <a:prstGeom prst="rect">
            <a:avLst/>
          </a:prstGeom>
          <a:solidFill>
            <a:srgbClr val="C9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" y="2871215"/>
            <a:ext cx="109728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054095"/>
            <a:ext cx="21945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새로운 문제에 적용하기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" y="3218687"/>
            <a:ext cx="2194560" cy="91440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" y="3218687"/>
            <a:ext cx="614476" cy="91440"/>
          </a:xfrm>
          <a:prstGeom prst="rect">
            <a:avLst/>
          </a:prstGeom>
          <a:solidFill>
            <a:srgbClr val="C9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" y="3218687"/>
            <a:ext cx="877824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3401567"/>
            <a:ext cx="21945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도움 없이 해결하기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3566159"/>
            <a:ext cx="2194560" cy="91440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" y="3566159"/>
            <a:ext cx="1097280" cy="91440"/>
          </a:xfrm>
          <a:prstGeom prst="rect">
            <a:avLst/>
          </a:prstGeom>
          <a:solidFill>
            <a:srgbClr val="C9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" y="3566159"/>
            <a:ext cx="149230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3749039"/>
            <a:ext cx="21945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지난주 ▨    이번주 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4005072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자주 막힌 부분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" y="4242816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4242816"/>
            <a:ext cx="1554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분수의 통분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5456" y="4242816"/>
            <a:ext cx="47548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11회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" y="457200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572000"/>
            <a:ext cx="1554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약수와 배수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5456" y="4572000"/>
            <a:ext cx="47548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6회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" y="4956048"/>
            <a:ext cx="2194560" cy="402336"/>
          </a:xfrm>
          <a:prstGeom prst="rect">
            <a:avLst/>
          </a:prstGeom>
          <a:solidFill>
            <a:srgbClr val="F3EE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" y="4956048"/>
            <a:ext cx="2011679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D28D9"/>
                </a:solidFill>
                <a:latin typeface="맑은 고딕"/>
              </a:rPr>
              <a:t>AI 대화 원문 열람</a:t>
            </a:r>
          </a:p>
          <a:p>
            <a:pPr algn="l">
              <a:spcAft>
                <a:spcPts val="0"/>
              </a:spcAft>
            </a:pPr>
            <a:r>
              <a:rPr sz="700" b="1">
                <a:solidFill>
                  <a:srgbClr val="6D28D9"/>
                </a:solidFill>
                <a:latin typeface="맑은 고딕"/>
              </a:rPr>
              <a:t>COM-007 미정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RPT-003 지난 리포트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지난 리포트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66744" y="173736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58183" y="1801368"/>
            <a:ext cx="17373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9/1 ~ 9/7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58183" y="1975104"/>
            <a:ext cx="17373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57F3D"/>
                </a:solidFill>
                <a:latin typeface="맑은 고딕"/>
              </a:rPr>
              <a:t>가장 성장 · 이유 설명하기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5272" y="1737360"/>
            <a:ext cx="164592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66744" y="2249424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58183" y="2313432"/>
            <a:ext cx="17373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8/25 ~ 8/31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58183" y="2487168"/>
            <a:ext cx="17373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57F3D"/>
                </a:solidFill>
                <a:latin typeface="맑은 고딕"/>
              </a:rPr>
              <a:t>가장 성장 · 규칙 찾아내기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5272" y="2249424"/>
            <a:ext cx="164592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66744" y="2761488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58183" y="2825496"/>
            <a:ext cx="17373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8/18 ~ 8/24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58183" y="2999232"/>
            <a:ext cx="17373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57F3D"/>
                </a:solidFill>
                <a:latin typeface="맑은 고딕"/>
              </a:rPr>
              <a:t>가장 성장 · 스스로 바로잡기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5272" y="2761488"/>
            <a:ext cx="164592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66744" y="327355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58183" y="3337560"/>
            <a:ext cx="17373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8/11 ~ 8/17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58183" y="3511296"/>
            <a:ext cx="17373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57F3D"/>
                </a:solidFill>
                <a:latin typeface="맑은 고딕"/>
              </a:rPr>
              <a:t>가장 성장 · 도움 없이 해결하기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5272" y="3273552"/>
            <a:ext cx="164592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1051560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1051560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내부 지표는 절대 그대로 안 보여준다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47104" y="1344168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reasoning_score 2점  같은 표기는 부모 화면에도 쓰지 않는다.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변화의 방향만 보여준다. 다음 장에 변환표가 있다.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1837943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0" y="1837943"/>
            <a:ext cx="45720" cy="10424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47104" y="1911095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28D9"/>
                </a:solidFill>
                <a:latin typeface="맑은 고딕"/>
              </a:rPr>
              <a:t>RPT-002 구성은 COM-007 에 걸려 있다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47104" y="2130551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부모가 아이의 AI 대화 원문을 볼 수 있는가 — 미정이다.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볼 수 있게 하면 상세 화면에 대화 보기가 들어가고, 아니면 빠진다.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COM-007 §8 · 결정 대기 7번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2990088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00800" y="2990088"/>
            <a:ext cx="45720" cy="67665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47104" y="306324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RPT-003 은 단순 목록이면 충분하다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7104" y="3282696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주 단위로 계속 쌓인다. 1년이면 52개다.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월별로 접거나 무한 스크롤이면 된다. 검색은 필요 없다.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report_id 는 COM-002 §13 의 값이다. Route 는 /parent/reports/[reportId]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내부 지표 → 부모 어휘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변환은 src/lib/constants/copy.ts 한 곳에서만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83112" cy="32918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97280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COM-002 내부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3550" y="1097280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부모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172" y="1097280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학생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6795" y="1097280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8A8A"/>
                </a:solidFill>
                <a:latin typeface="맑은 고딕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26464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26464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reasoning_score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3550" y="1426464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이유 설명하기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172" y="1426464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노출 안 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6795" y="1426464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왜 그렇게 풀었는지 말할 수 있는가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55648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755648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self_correction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3550" y="1755648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스스로 바로잡기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172" y="1755648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노출 안 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6795" y="1755648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틀린 걸 스스로 알아채고 고쳤는가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84831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084831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rule_score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3550" y="2084831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규칙 찾아내기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172" y="2084831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노출 안 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6795" y="2084831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어떤 규칙을 썼는지 아는가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14015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414015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transfer_score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50" y="2414015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새로운 문제에 적용하기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172" y="2414015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노출 안 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6795" y="2414015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배운 것을 다른 문제에 쓰는가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43199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743199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support_level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3550" y="2743199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도움 없이 해결하기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172" y="2743199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노출 안 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6795" y="2743199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힌트를 얼마나 썼는가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072383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072383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logic_gap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3550" y="3072383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자주 막힌 부분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172" y="3072383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노출 안 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6795" y="3072383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반복해서 걸리는 지점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401567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401567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needs_review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3550" y="3401567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추가 학습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0172" y="3401567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한 번 더 도전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6795" y="3401567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실패라고 부르지 않는다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30751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3730751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학습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3550" y="3730751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학습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0172" y="3730751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미션 / 도전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6795" y="3730751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059935"/>
            <a:ext cx="1118311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4059935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학습 결과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3550" y="4059935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학습 결과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0172" y="4059935"/>
            <a:ext cx="214518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오늘의 기록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6795" y="4059935"/>
            <a:ext cx="4381804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434840"/>
            <a:ext cx="11183112" cy="960120"/>
          </a:xfrm>
          <a:prstGeom prst="rect">
            <a:avLst/>
          </a:prstGeom>
          <a:solidFill>
            <a:srgbClr val="FFF4F4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544568"/>
            <a:ext cx="1088136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1C1C"/>
                </a:solidFill>
                <a:latin typeface="맑은 고딕"/>
              </a:rPr>
              <a:t>학생 화면에는 점수도 개념명도 넣지 않는다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B91C1C"/>
                </a:solidFill>
                <a:latin typeface="맑은 고딕"/>
              </a:rPr>
              <a:t>평가점수 · Logic Gap · verified_answer 는 학생에게 노출하지 않는다. 수학 개념명도 마찬가지다 — 사실상 취약점 라벨이 되고, 문제집 앱으로 보이게 만든다.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화면마다 문자열을 따로 쓰면 곧 어긋난다. 변환은 copy.ts 한 곳에서만 (CLAUDE.md · COM-003 §7)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BIL-001 · BIL-002 · 구독 HOME 과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구독은 학생 단위, 결제는 부모 단위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BIL-001 구독·결제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구독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1737360"/>
            <a:ext cx="2194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1810512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민준 · 4학년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12263" y="1810512"/>
            <a:ext cx="868680" cy="182880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2263" y="1810512"/>
            <a:ext cx="86868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무료체험 D-5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2048255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9/8 종료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2066543"/>
            <a:ext cx="54864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D4ED8"/>
                </a:solidFill>
                <a:latin typeface="맑은 고딕"/>
              </a:rPr>
              <a:t>관리 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2395728"/>
            <a:ext cx="2194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468880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서연 · 6학년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12263" y="2468880"/>
            <a:ext cx="868680" cy="182880"/>
          </a:xfrm>
          <a:prstGeom prst="roundRect">
            <a:avLst>
              <a:gd name="adj" fmla="val 35000"/>
            </a:avLst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12263" y="2468880"/>
            <a:ext cx="86868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구독중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2706624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다음 결제 9/24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2304" y="2724912"/>
            <a:ext cx="54864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D4ED8"/>
                </a:solidFill>
                <a:latin typeface="맑은 고딕"/>
              </a:rPr>
              <a:t>관리 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054096"/>
            <a:ext cx="21945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127248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지호 · 5학년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2263" y="3127248"/>
            <a:ext cx="868680" cy="182880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12263" y="3127248"/>
            <a:ext cx="86868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결제 실패 · 유예 D-2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364991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카드 확인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304" y="3383279"/>
            <a:ext cx="54864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D4ED8"/>
                </a:solidFill>
                <a:latin typeface="맑은 고딕"/>
              </a:rPr>
              <a:t>관리 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" y="3749039"/>
            <a:ext cx="2194560" cy="402336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749039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구독 신청하기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" y="4242816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4242816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결제수단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4242816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4571999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4571999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결제내역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4571999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468112"/>
            <a:ext cx="23957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2697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홈</a:t>
            </a:r>
          </a:p>
        </p:txBody>
      </p:sp>
      <p:sp>
        <p:nvSpPr>
          <p:cNvPr id="42" name="Oval 41"/>
          <p:cNvSpPr/>
          <p:nvPr/>
        </p:nvSpPr>
        <p:spPr>
          <a:xfrm>
            <a:off x="1611630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6172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리포트</a:t>
            </a:r>
          </a:p>
        </p:txBody>
      </p:sp>
      <p:sp>
        <p:nvSpPr>
          <p:cNvPr id="44" name="Oval 43"/>
          <p:cNvSpPr/>
          <p:nvPr/>
        </p:nvSpPr>
        <p:spPr>
          <a:xfrm>
            <a:off x="2210562" y="5532120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75104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A1A1A"/>
                </a:solidFill>
                <a:latin typeface="맑은 고딕"/>
              </a:rPr>
              <a:t>구독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92858" y="5495544"/>
            <a:ext cx="365760" cy="137160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92858" y="5495544"/>
            <a:ext cx="365760" cy="1371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맑은 고딕"/>
              </a:rPr>
              <a:t>D-2</a:t>
            </a:r>
          </a:p>
        </p:txBody>
      </p:sp>
      <p:sp>
        <p:nvSpPr>
          <p:cNvPr id="48" name="Oval 47"/>
          <p:cNvSpPr/>
          <p:nvPr/>
        </p:nvSpPr>
        <p:spPr>
          <a:xfrm>
            <a:off x="2809494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74036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마이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BIL-002 구독 신청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구독 신청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66744" y="1773936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어떤 학생의 구독인가요?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6744" y="1993391"/>
            <a:ext cx="219456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76472" y="2112263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77639" y="1993391"/>
            <a:ext cx="17922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민준 · 4학년 · 체험 D-5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66744" y="2414015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776472" y="2532887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77639" y="2414015"/>
            <a:ext cx="179222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지호 · 5학년 · 유예 D-2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66744" y="2889503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상품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66744" y="3108959"/>
            <a:ext cx="2194560" cy="658368"/>
          </a:xfrm>
          <a:prstGeom prst="rect">
            <a:avLst/>
          </a:prstGeom>
          <a:solidFill>
            <a:srgbClr val="F7F7F8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76472" y="3182111"/>
            <a:ext cx="1975104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월 구독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76472" y="3401567"/>
            <a:ext cx="197510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₩12,900 / 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76472" y="3602735"/>
            <a:ext cx="1975104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학생 1명 기준 · 언제든 해지 가능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66744" y="3895344"/>
            <a:ext cx="2194560" cy="402336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3895344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결제하기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1051560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00800" y="1051560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학생별 상태 5가지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47104" y="1344168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무료체험 D-n · 구독중 · 결제 실패 / 3일 유예 · 구독 만료 · 해지 예정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한 화면에 학생 수만큼 카드가 쌓인다.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1837943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00800" y="1837943"/>
            <a:ext cx="45720" cy="10424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47104" y="1911095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형제가 둘이면 객단가가 두 배다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47104" y="2130551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구독이 학생 단위라 아이가 둘이면 ₩25,800 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둘째부터 할인이 없으면 "한 명만 시키자" 가 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상품 구성은 아직 정해진 게 없다. 과금 PM 결정 사항이다.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2990088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00800" y="2990088"/>
            <a:ext cx="45720" cy="10424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47104" y="306324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무료체험 시작 시점을 조심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47104" y="3282696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가입일이 아니라 그 학생의 최초 학습 시작일부터 14일이다.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가입만 하고 안 쓰면 체험이 날아가지 않는다.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COM-001 §19 의 금지사항이다. 임의로 바꾸지 않는다.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PG 사가 미확정이라 BIL-003 내부 구현은 보류다. Route 와 상태 전이만 먼저 잡는다 (COM-005 §13)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BIL-003 · BIL-004 · 결제와 구독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PG 미확정 — 껍데기와 상태 전이만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BIL-003 결제 진행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결제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1737360"/>
            <a:ext cx="2194560" cy="82296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1828800"/>
            <a:ext cx="1975104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민준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029967"/>
            <a:ext cx="197510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맑은 고딕"/>
              </a:rPr>
              <a:t>₩12,900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304288"/>
            <a:ext cx="1975104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매월 9월 8일 결제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670048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결제수단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2907791"/>
            <a:ext cx="21945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907791"/>
            <a:ext cx="1463039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신한 ****1234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79" y="2907791"/>
            <a:ext cx="512064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1">
                <a:solidFill>
                  <a:srgbClr val="1D4ED8"/>
                </a:solidFill>
                <a:latin typeface="맑은 고딕"/>
              </a:rPr>
              <a:t>변경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3456432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529584"/>
            <a:ext cx="1975104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☐  구독 약관에 동의합니다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☐  결제일마다 자동으로 결제됩니다</a:t>
            </a:r>
          </a:p>
          <a:p>
            <a:pPr algn="l">
              <a:spcAft>
                <a:spcPts val="300"/>
              </a:spcAft>
            </a:pPr>
            <a:r>
              <a:rPr sz="700" b="0">
                <a:solidFill>
                  <a:srgbClr val="444444"/>
                </a:solidFill>
                <a:latin typeface="맑은 고딕"/>
              </a:rPr>
              <a:t>☐  언제든 해지할 수 있습니다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" y="5349240"/>
            <a:ext cx="2194560" cy="420624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349240"/>
            <a:ext cx="219456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₩12,900 결제하기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BIL-004 구독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민준 구독 관리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66744" y="1737360"/>
            <a:ext cx="2194560" cy="60350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76472" y="1828800"/>
            <a:ext cx="658368" cy="182880"/>
          </a:xfrm>
          <a:prstGeom prst="roundRect">
            <a:avLst>
              <a:gd name="adj" fmla="val 35000"/>
            </a:avLst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76472" y="1828800"/>
            <a:ext cx="658368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구독중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2066543"/>
            <a:ext cx="1975104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다음 결제 2026-09-24 · ₩12,900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66744" y="2450591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58183" y="2450591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결제수단 변경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1848" y="2450591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66744" y="2779775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58183" y="2779775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결제내역 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41848" y="2779775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66744" y="3108959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58183" y="3108959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91C1C"/>
                </a:solidFill>
                <a:latin typeface="맑은 고딕"/>
              </a:rPr>
              <a:t>구독 해지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41848" y="3108959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66744" y="3584447"/>
            <a:ext cx="2194560" cy="822960"/>
          </a:xfrm>
          <a:prstGeom prst="rect">
            <a:avLst/>
          </a:prstGeom>
          <a:solidFill>
            <a:srgbClr val="FFFAF0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76472" y="3657599"/>
            <a:ext cx="1975104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B45309"/>
                </a:solidFill>
                <a:latin typeface="맑은 고딕"/>
              </a:rPr>
              <a:t>해지해도</a:t>
            </a:r>
          </a:p>
          <a:p>
            <a:pPr algn="l">
              <a:spcAft>
                <a:spcPts val="200"/>
              </a:spcAft>
            </a:pPr>
            <a:r>
              <a:rPr sz="700" b="0">
                <a:solidFill>
                  <a:srgbClr val="B45309"/>
                </a:solidFill>
                <a:latin typeface="맑은 고딕"/>
              </a:rPr>
              <a:t>· 이번 달 남은 기간은 계속 쓸 수 있어요</a:t>
            </a:r>
          </a:p>
          <a:p>
            <a:pPr algn="l">
              <a:spcAft>
                <a:spcPts val="200"/>
              </a:spcAft>
            </a:pPr>
            <a:r>
              <a:rPr sz="700" b="0">
                <a:solidFill>
                  <a:srgbClr val="B45309"/>
                </a:solidFill>
                <a:latin typeface="맑은 고딕"/>
              </a:rPr>
              <a:t>· 지난 리포트는 계속 볼 수 있어요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1051560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1051560"/>
            <a:ext cx="45720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PG 사가 정해지지 않았다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4" y="1344168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BIL-003 의 내부 구현은 보류다. 화면과 상태 전이만 먼저 잡는다.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PG 콜백은 화면이 아니라 app/api/webhooks/payment 가 받는다.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1837943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1837943"/>
            <a:ext cx="45720" cy="104241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47104" y="1911095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해지 시 안내가 중요하다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47104" y="2130551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해지 화면에서 무엇을 잃고 무엇이 남는지 분명히 적는다.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남는 것    지난 리포트 · 학습기록 · Student Memory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멈추는 것  새 미션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990088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2990088"/>
            <a:ext cx="45720" cy="10424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47104" y="306324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해지 사유를 여기서 받는다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47104" y="3282696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앞서 마케팅 이야기에서 가장 값어치 있다고 한 데이터다.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해지 직전이 유일하게 솔직한 답을 받을 수 있는 순간이다.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아이가 흥미를 잃음 · 가격 부담 · 효과를 모르겠음 · 난이도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결제 실패 시 3일 유예. 학생에게 결제 상세 원인을 노출하지 않는다 (COM-003 §4.6)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BIL-005 · BIL-006 · 결제수단과 결제내역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한 번 등록하고 거의 안 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BIL-005 결제수단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결제수단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1737360"/>
            <a:ext cx="219456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1810512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신한 ****1234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011679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유효 12/28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1828800"/>
            <a:ext cx="603504" cy="173736"/>
          </a:xfrm>
          <a:prstGeom prst="roundRect">
            <a:avLst>
              <a:gd name="adj" fmla="val 3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1828800"/>
            <a:ext cx="603504" cy="1737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1">
                <a:solidFill>
                  <a:srgbClr val="FFFFFF"/>
                </a:solidFill>
                <a:latin typeface="맑은 고딕"/>
              </a:rPr>
              <a:t>기본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2322576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395728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국민 ****5678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596896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유효 03/27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2414016"/>
            <a:ext cx="603504" cy="1737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1D4ED8"/>
                </a:solidFill>
                <a:latin typeface="맑은 고딕"/>
              </a:rPr>
              <a:t>기본으로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" y="2907792"/>
            <a:ext cx="219456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907792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+  결제수단 추가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3456432"/>
            <a:ext cx="2194560" cy="566928"/>
          </a:xfrm>
          <a:prstGeom prst="rect">
            <a:avLst/>
          </a:prstGeom>
          <a:solidFill>
            <a:srgbClr val="F3EE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529584"/>
            <a:ext cx="2011679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6D28D9"/>
                </a:solidFill>
                <a:latin typeface="맑은 고딕"/>
              </a:rPr>
              <a:t>카드 정보는 저장하지 않는다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6D28D9"/>
                </a:solidFill>
                <a:latin typeface="맑은 고딕"/>
              </a:rPr>
              <a:t>PG 사 빌링키만 보관한다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BIL-006 결제내역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결제내역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173736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58183" y="1792224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서연 · 월 구독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8183" y="1975104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2026-08-24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064" y="1792224"/>
            <a:ext cx="6858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4064" y="1975104"/>
            <a:ext cx="6858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57F3D"/>
                </a:solidFill>
                <a:latin typeface="맑은 고딕"/>
              </a:rPr>
              <a:t>완료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66744" y="2249424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58183" y="2304288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민준 · 월 구독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58183" y="2487168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2026-08-24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4064" y="2304288"/>
            <a:ext cx="6858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4064" y="2487168"/>
            <a:ext cx="6858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57F3D"/>
                </a:solidFill>
                <a:latin typeface="맑은 고딕"/>
              </a:rPr>
              <a:t>완료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66744" y="2761488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58183" y="2816352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지호 · 월 구독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58183" y="2999232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2026-08-02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2816352"/>
            <a:ext cx="6858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4064" y="2999232"/>
            <a:ext cx="6858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B91C1C"/>
                </a:solidFill>
                <a:latin typeface="맑은 고딕"/>
              </a:rPr>
              <a:t>실패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66744" y="327355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58183" y="3328416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서연 · 월 구독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58183" y="3511296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2026-07-24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84064" y="3328416"/>
            <a:ext cx="6858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4064" y="3511296"/>
            <a:ext cx="6858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157F3D"/>
                </a:solidFill>
                <a:latin typeface="맑은 고딕"/>
              </a:rPr>
              <a:t>완료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66744" y="3785616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58183" y="3840480"/>
            <a:ext cx="13716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민준 · 환불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58183" y="4023360"/>
            <a:ext cx="13716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2026-07-01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4064" y="3840480"/>
            <a:ext cx="6858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맑은 고딕"/>
              </a:rPr>
              <a:t>-₩6,450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84064" y="4023360"/>
            <a:ext cx="68580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B45309"/>
                </a:solidFill>
                <a:latin typeface="맑은 고딕"/>
              </a:rPr>
              <a:t>환불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1051560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0" y="1051560"/>
            <a:ext cx="45720" cy="67665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28D9"/>
                </a:solidFill>
                <a:latin typeface="맑은 고딕"/>
              </a:rPr>
              <a:t>카드 번호를 우리가 저장하지 않는다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47104" y="1344168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PG 사가 발급한 빌링키만 보관한다. COM-002 §12 Payment 도 그 전제다.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카드 원본을 우리 DB 에 두면 보안 요구사항이 완전히 달라진다.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1837943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00800" y="1837943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4" y="1911095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결제내역은 학생별로 섞인다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47104" y="2130551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구독은 학생 단위지만 결제는 부모 계정에서 한 번에 빠져나간다.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누구 것인지 줄마다 적어야 부모가 이해한다.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2624328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2624328"/>
            <a:ext cx="45720" cy="10424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7104" y="269748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법정 보관기간이 있다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7104" y="2916936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결제 데이터는 개인정보와 별개로 법에서 정한 보관기간이 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탈퇴해도 바로 지우면 안 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COM-007 §4 에서 확정해야 한다.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환불은 부분 환불이 가능해야 한다. 어드민 조치 화면과 짝이다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구독 상태 전이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학생 1명 기준. 형제가 있으면 각자 따로 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874519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874519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371600"/>
            <a:ext cx="165506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무료체험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27632"/>
            <a:ext cx="1655064" cy="4023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D1 ~ D14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최초 학습 시작일부터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234440"/>
            <a:ext cx="1874519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234440"/>
            <a:ext cx="1874519" cy="41148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371600"/>
            <a:ext cx="165506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7F3D"/>
                </a:solidFill>
                <a:latin typeface="맑은 고딕"/>
              </a:rPr>
              <a:t>구독중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627632"/>
            <a:ext cx="1655064" cy="4023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매월 자동 결제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234440"/>
            <a:ext cx="1874519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234440"/>
            <a:ext cx="1874519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1371600"/>
            <a:ext cx="165506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91C1C"/>
                </a:solidFill>
                <a:latin typeface="맑은 고딕"/>
              </a:rPr>
              <a:t>결제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627632"/>
            <a:ext cx="1655064" cy="4023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3일 유예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서비스는 계속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234440"/>
            <a:ext cx="1874519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234440"/>
            <a:ext cx="1874519" cy="4114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1371600"/>
            <a:ext cx="165506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A8A"/>
                </a:solidFill>
                <a:latin typeface="맑은 고딕"/>
              </a:rPr>
              <a:t>구독 만료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1627632"/>
            <a:ext cx="1655064" cy="4023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새 미션 중단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기록은 남음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234440"/>
            <a:ext cx="1874519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234440"/>
            <a:ext cx="1874519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1371600"/>
            <a:ext cx="165506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맑은 고딕"/>
              </a:rPr>
              <a:t>해지 예정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627632"/>
            <a:ext cx="1655064" cy="4023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기간 만료까지 이용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2304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1563624"/>
            <a:ext cx="2743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468880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68880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체험 종료 → 결제 안 하면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2468880"/>
            <a:ext cx="28346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무료체험 → 구독 만료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907792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907792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체험 중 결제하면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2907792"/>
            <a:ext cx="28346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무료체험 → 구독중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346704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346704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유예 3일 안에 결제되면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3346704"/>
            <a:ext cx="28346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결제 실패 → 구독중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785616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785616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유예 3일이 지나면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3785616"/>
            <a:ext cx="28346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결제 실패 → 구독 만료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224528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224528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만료 후 다시 결제하면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4224528"/>
            <a:ext cx="28346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구독 만료 → 구독중  (재구독)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663440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63440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해지 신청하면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4663440"/>
            <a:ext cx="283464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구독중 → 해지 예정 → 구독 만료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2468880"/>
            <a:ext cx="553212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99632" y="2468880"/>
            <a:ext cx="45720" cy="104241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2542032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만료돼도 지우지 않는다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5936" y="2761488"/>
            <a:ext cx="5257800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구독이 끝나도 학습기록 · 리포트 · Student Memory 는 남는다.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다시 결제하면 이어서 시작한다.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COM-001 §19 · 새 학습 시작 시 과거 기록을 삭제하지 않는다.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3621024"/>
            <a:ext cx="5532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99632" y="3621024"/>
            <a:ext cx="45720" cy="6766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3694176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학생에게는 결제 이야기를 하지 않는다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3913632"/>
            <a:ext cx="52578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 화면(STU-004)에는 "구독 만료 → 신규 미션 제한" State 만 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결제 실패 원인이나 금액은 학생에게 보여주지 않는다.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4407408"/>
            <a:ext cx="5532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99632" y="4407408"/>
            <a:ext cx="45720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480560"/>
            <a:ext cx="52578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체험 시작 시점이 상태 전이의 기준점이다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4700016"/>
            <a:ext cx="52578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가입일이 아니라 그 학생의 최초 학습 시작일이다.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형제가 각자 다른 날 시작하면 체험 종료일도 각자 다르다.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3일 유예 중에도 서비스는 계속 쓸 수 있다 (COM-001 §16)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MY-001 · MY-002 · 마이페이지와 학생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10개 중 대부분은 한 번 하고 만다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MY-001 마이페이지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마이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1737360"/>
            <a:ext cx="2194560" cy="5486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1856231"/>
            <a:ext cx="310896" cy="31089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1828800"/>
            <a:ext cx="15544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김**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2029967"/>
            <a:ext cx="155448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ki**@gmail.com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395728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학생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2596896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2596896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학생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5144" y="259689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3명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2596896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980944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내 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3182112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3182112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회원정보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3182112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3511296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511296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마케팅 수신설정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3511296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" y="384048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3840480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알림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3840480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224527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계정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" y="4425696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4425696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보호자 PIN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4425696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4754879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4754879"/>
            <a:ext cx="1371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D28D9"/>
                </a:solidFill>
                <a:latin typeface="맑은 고딕"/>
              </a:rPr>
              <a:t>계정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4754879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468112"/>
            <a:ext cx="23957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2697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홈</a:t>
            </a:r>
          </a:p>
        </p:txBody>
      </p:sp>
      <p:sp>
        <p:nvSpPr>
          <p:cNvPr id="42" name="Oval 41"/>
          <p:cNvSpPr/>
          <p:nvPr/>
        </p:nvSpPr>
        <p:spPr>
          <a:xfrm>
            <a:off x="1611630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6172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리포트</a:t>
            </a:r>
          </a:p>
        </p:txBody>
      </p:sp>
      <p:sp>
        <p:nvSpPr>
          <p:cNvPr id="44" name="Oval 43"/>
          <p:cNvSpPr/>
          <p:nvPr/>
        </p:nvSpPr>
        <p:spPr>
          <a:xfrm>
            <a:off x="2210562" y="5532120"/>
            <a:ext cx="128016" cy="128016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75104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구독</a:t>
            </a:r>
          </a:p>
        </p:txBody>
      </p:sp>
      <p:sp>
        <p:nvSpPr>
          <p:cNvPr id="46" name="Oval 45"/>
          <p:cNvSpPr/>
          <p:nvPr/>
        </p:nvSpPr>
        <p:spPr>
          <a:xfrm>
            <a:off x="2809494" y="5532120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4036" y="5678424"/>
            <a:ext cx="59893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1A1A1A"/>
                </a:solidFill>
                <a:latin typeface="맑은 고딕"/>
              </a:rPr>
              <a:t>마이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MY-002 학생 관리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학생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66744" y="1737360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76472" y="1856231"/>
            <a:ext cx="274320" cy="27432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23944" y="1810512"/>
            <a:ext cx="15544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민준 · 4학년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23944" y="2011679"/>
            <a:ext cx="155448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캐릭터 villain · 체험 D-5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60" y="1737360"/>
            <a:ext cx="164592" cy="5120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66744" y="2304288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776472" y="2423160"/>
            <a:ext cx="274320" cy="27432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23944" y="2377440"/>
            <a:ext cx="15544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서연 · 6학년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23944" y="2578608"/>
            <a:ext cx="155448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캐릭터 friend · 구독중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60" y="2304288"/>
            <a:ext cx="164592" cy="5120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66744" y="2871216"/>
            <a:ext cx="21945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776472" y="2990088"/>
            <a:ext cx="274320" cy="274320"/>
          </a:xfrm>
          <a:prstGeom prst="ellipse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23944" y="2944368"/>
            <a:ext cx="155448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지호 · 5학년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23944" y="3145536"/>
            <a:ext cx="155448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캐릭터 friend · 유예 D-2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60" y="2871216"/>
            <a:ext cx="164592" cy="51206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66744" y="3474720"/>
            <a:ext cx="219456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66744" y="3474720"/>
            <a:ext cx="2194560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+  학생 추가  (MY-004)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1051560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0" y="1051560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마이페이지는 목차일 뿐이다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47104" y="1344168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자체 기능이 없다. 9개 화면으로 가는 링크 모음이다.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묶음을 나눠 두면 그것만으로 충분하다.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1837943"/>
            <a:ext cx="533095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00800" y="1837943"/>
            <a:ext cx="45720" cy="1225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47104" y="1911095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MY-004 학생 추가와 STU-001 첫 학생 등록은 다른 화면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47104" y="2130551"/>
            <a:ext cx="5056632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같아 보이지만 Screen ID 도 Route 도 다르다.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STU-001 은 가입 직후 흐름의 일부라 뒤로 갈 곳이 없고,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MY-004 는 마이페이지에서 들어와 취소하고 나갈 수 있다.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합치지 않는다 (DEV-002 §3).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3172968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0800" y="3172968"/>
            <a:ext cx="45720" cy="67665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47104" y="324612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캐릭터는 학생이 고른다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47104" y="3465575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부모는 현재 캐릭터를 볼 수 있지만 바꾸지 못한다.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MVP 에서는 통제 기능을 제공하지 않는다 (COM-003 §8).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Next.js 라우팅에서 students/new 가 students/[studentId] 보다 먼저 매칭된다 (DEV-002 §8)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MY-003 · MY-004 · 학생 프로필과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수정 권한이 세 갈래로 갈린다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MY-003 학생 프로필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민준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1737360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1737360"/>
            <a:ext cx="8229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1737360"/>
            <a:ext cx="822959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김민준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737360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1D4ED8"/>
                </a:solidFill>
                <a:latin typeface="맑은 고딕"/>
              </a:rPr>
              <a:t>수정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2157984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2157984"/>
            <a:ext cx="8229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닉네임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2157984"/>
            <a:ext cx="822959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민준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157984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1D4ED8"/>
                </a:solidFill>
                <a:latin typeface="맑은 고딕"/>
              </a:rPr>
              <a:t>수정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257860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2578608"/>
            <a:ext cx="8229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생년월일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2578608"/>
            <a:ext cx="822959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2016-03-12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2578608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1D4ED8"/>
                </a:solidFill>
                <a:latin typeface="맑은 고딕"/>
              </a:rPr>
              <a:t>수정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2999232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2999232"/>
            <a:ext cx="8229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학년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2999232"/>
            <a:ext cx="822959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4학년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2999232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1D4ED8"/>
                </a:solidFill>
                <a:latin typeface="맑은 고딕"/>
              </a:rPr>
              <a:t>수정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" y="3419856"/>
            <a:ext cx="2194560" cy="36576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419856"/>
            <a:ext cx="8229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캐릭터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0512" y="3419856"/>
            <a:ext cx="822959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villain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79" y="3419856"/>
            <a:ext cx="51206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00" b="0">
                <a:solidFill>
                  <a:srgbClr val="8A8A8A"/>
                </a:solidFill>
                <a:latin typeface="맑은 고딕"/>
              </a:rPr>
              <a:t>학생이 선택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3895344"/>
            <a:ext cx="2194560" cy="65836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" y="3968496"/>
            <a:ext cx="2011679" cy="5303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수정할 수 없음</a:t>
            </a:r>
          </a:p>
          <a:p>
            <a:pPr algn="l">
              <a:spcAft>
                <a:spcPts val="200"/>
              </a:spcAft>
            </a:pPr>
            <a:r>
              <a:rPr sz="700" b="0">
                <a:solidFill>
                  <a:srgbClr val="8A8A8A"/>
                </a:solidFill>
                <a:latin typeface="맑은 고딕"/>
              </a:rPr>
              <a:t>현재 난이도 · 자주 막힌 부분 · 학습 기억 · 평가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5340096"/>
            <a:ext cx="2194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340096"/>
            <a:ext cx="219456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D28D9"/>
                </a:solidFill>
                <a:latin typeface="맑은 고딕"/>
              </a:rPr>
              <a:t>학생 삭제  ·  COM-007 대기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1051560"/>
            <a:ext cx="2395728" cy="49011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66160" y="1051560"/>
            <a:ext cx="2395728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66160" y="1161288"/>
            <a:ext cx="2395728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5887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6007607"/>
            <a:ext cx="239572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MY-004 학생 추가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371600"/>
            <a:ext cx="239572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6674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66744" y="1371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학생 추가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66744" y="1737360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이름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66744" y="193852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76472" y="1938528"/>
            <a:ext cx="197510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아이의 이름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6744" y="2377439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닉네임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66744" y="257860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76472" y="2578608"/>
            <a:ext cx="197510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비우면 이름과 같아요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66744" y="3017520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생년월일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66744" y="321868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76472" y="3218688"/>
            <a:ext cx="197510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YYYY-MM-DD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66744" y="3657600"/>
            <a:ext cx="219456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학년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66744" y="3858768"/>
            <a:ext cx="2194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76472" y="3858768"/>
            <a:ext cx="1975104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4학년 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66744" y="4352544"/>
            <a:ext cx="2194560" cy="658368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76472" y="4425696"/>
            <a:ext cx="1975104" cy="5303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1D4ED8"/>
                </a:solidFill>
                <a:latin typeface="맑은 고딕"/>
              </a:rPr>
              <a:t>캐릭터는 아이가 직접 고릅니다</a:t>
            </a:r>
          </a:p>
          <a:p>
            <a:pPr algn="l">
              <a:spcAft>
                <a:spcPts val="200"/>
              </a:spcAft>
            </a:pPr>
            <a:r>
              <a:rPr sz="700" b="0">
                <a:solidFill>
                  <a:srgbClr val="1D4ED8"/>
                </a:solidFill>
                <a:latin typeface="맑은 고딕"/>
              </a:rPr>
              <a:t>등록 후 아이 화면에서 선택해요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66744" y="5349240"/>
            <a:ext cx="2194560" cy="420624"/>
          </a:xfrm>
          <a:prstGeom prst="roundRect">
            <a:avLst>
              <a:gd name="adj" fmla="val 1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66744" y="5349240"/>
            <a:ext cx="219456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등록하기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1051560"/>
            <a:ext cx="533095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1051560"/>
            <a:ext cx="4572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47104" y="1124712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수정 권한 세 갈래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47104" y="1344168"/>
            <a:ext cx="5056632" cy="49377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부모만 수정        이름 · 닉네임 · 생년월일 · 학년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학생이 직접 선택   캐릭터 (Persona)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아무도 수정 불가   난이도 · Logic Gap · Student Memory · Evaluation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2020824"/>
            <a:ext cx="533095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2020824"/>
            <a:ext cx="45720" cy="10424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47104" y="2093976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마지막 줄이 중요하다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47104" y="2313432"/>
            <a:ext cx="505663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부모도 난이도를 못 바꾼다. 누적 데이터로만 정해진다 (COM-001 §9).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어드민에서 "난이도 수동 조정" 에 정책 필요 표시를 붙인 이유가 이것이다.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부모도 못 하는 것을 운영자가 해도 되는지 정해진 바가 없다.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3172968"/>
            <a:ext cx="53309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72968"/>
            <a:ext cx="45720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47104" y="3246120"/>
            <a:ext cx="505663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학년 오입력이 가장 흔하다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47104" y="3465576"/>
            <a:ext cx="505663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학년은 첫날 난이도의 기준이다 (COM-001 §9).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잘못 넣으면 문제가 계속 안 맞는다. 수정 경로가 반드시 있어야 한다.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학생 삭제 후 학습기록 1년 보관 — COM-002 §18 에 명시. 절차는 COM-007 대기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MY-005 · MY-006 · MY-007 · 내 정보와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마케팅 수신과 서비스 알림은 반드시 분리한다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21031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51560"/>
            <a:ext cx="2103120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61288"/>
            <a:ext cx="210312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4126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MY-005 회원정보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37160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71600"/>
            <a:ext cx="1901951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회원정보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1737360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1773936"/>
            <a:ext cx="1755647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1920240"/>
            <a:ext cx="1353311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김**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1" y="1737360"/>
            <a:ext cx="347472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1D4ED8"/>
                </a:solidFill>
                <a:latin typeface="맑은 고딕"/>
              </a:rPr>
              <a:t>변경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217627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212848"/>
            <a:ext cx="1755647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이메일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2359152"/>
            <a:ext cx="1353311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ki**@gmail.com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1" y="2176272"/>
            <a:ext cx="347472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1D4ED8"/>
                </a:solidFill>
                <a:latin typeface="맑은 고딕"/>
              </a:rPr>
              <a:t>변경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2615184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2651760"/>
            <a:ext cx="1755647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휴대폰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2798064"/>
            <a:ext cx="1353311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010-****-**21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1" y="2615184"/>
            <a:ext cx="347472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1D4ED8"/>
                </a:solidFill>
                <a:latin typeface="맑은 고딕"/>
              </a:rPr>
              <a:t>변경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3054096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090672"/>
            <a:ext cx="1755647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비밀번호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3236976"/>
            <a:ext cx="1353311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••••••••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9151" y="3054096"/>
            <a:ext cx="347472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1D4ED8"/>
                </a:solidFill>
                <a:latin typeface="맑은 고딕"/>
              </a:rPr>
              <a:t>변경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40" y="1051560"/>
            <a:ext cx="21031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63240" y="1051560"/>
            <a:ext cx="2103120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63240" y="1161288"/>
            <a:ext cx="210312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72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54126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MY-006 마케팅 수신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137160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63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824" y="1371600"/>
            <a:ext cx="1901951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마케팅 수신설정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3824" y="1737360"/>
            <a:ext cx="1901951" cy="438912"/>
          </a:xfrm>
          <a:prstGeom prst="rect">
            <a:avLst/>
          </a:prstGeom>
          <a:solidFill>
            <a:srgbClr val="FFFAF0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36976" y="1783080"/>
            <a:ext cx="1755647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650" b="0">
                <a:solidFill>
                  <a:srgbClr val="B45309"/>
                </a:solidFill>
                <a:latin typeface="맑은 고딕"/>
              </a:rPr>
              <a:t>광고성 정보 수신 동의</a:t>
            </a:r>
          </a:p>
          <a:p>
            <a:pPr algn="l">
              <a:spcAft>
                <a:spcPts val="100"/>
              </a:spcAft>
            </a:pPr>
            <a:r>
              <a:rPr sz="650" b="0">
                <a:solidFill>
                  <a:srgbClr val="B45309"/>
                </a:solidFill>
                <a:latin typeface="맑은 고딕"/>
              </a:rPr>
              <a:t>법정 동의 항목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3824" y="2267712"/>
            <a:ext cx="1901951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55264" y="2267712"/>
            <a:ext cx="1261871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이메일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62855" y="2368296"/>
            <a:ext cx="384048" cy="164592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46319" y="238201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63824" y="2688336"/>
            <a:ext cx="1901951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5264" y="2688336"/>
            <a:ext cx="1261871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SMS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62855" y="2788920"/>
            <a:ext cx="384048" cy="164592"/>
          </a:xfrm>
          <a:prstGeom prst="roundRect">
            <a:avLst>
              <a:gd name="adj" fmla="val 45000"/>
            </a:avLst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81143" y="280263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3824" y="3108960"/>
            <a:ext cx="1901951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55264" y="3108960"/>
            <a:ext cx="1261871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알림톡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62855" y="3209544"/>
            <a:ext cx="384048" cy="164592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46319" y="322326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63824" y="3584448"/>
            <a:ext cx="1901951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동의·철회 이력을 시각과 함께 저장한다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49240" y="1051560"/>
            <a:ext cx="21031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349240" y="1051560"/>
            <a:ext cx="2103120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49240" y="1161288"/>
            <a:ext cx="210312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58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19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554126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MY-007 알림 설정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137160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9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9824" y="1371600"/>
            <a:ext cx="1901951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알림 설정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9824" y="1737360"/>
            <a:ext cx="1901951" cy="365760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22976" y="1737360"/>
            <a:ext cx="1755647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1D4ED8"/>
                </a:solidFill>
                <a:latin typeface="맑은 고딕"/>
              </a:rPr>
              <a:t>서비스 알림 · 동의와 무관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9824" y="2176272"/>
            <a:ext cx="190195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22976" y="2176272"/>
            <a:ext cx="1335023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444444"/>
                </a:solidFill>
                <a:latin typeface="맑은 고딕"/>
              </a:rPr>
              <a:t>주간 리포트 도착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76288" y="2267712"/>
            <a:ext cx="365760" cy="164592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41463" y="2281428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49824" y="2578608"/>
            <a:ext cx="190195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22976" y="2578608"/>
            <a:ext cx="1335023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444444"/>
                </a:solidFill>
                <a:latin typeface="맑은 고딕"/>
              </a:rPr>
              <a:t>체험 종료 3일 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76288" y="2670048"/>
            <a:ext cx="365760" cy="164592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141463" y="268376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49824" y="2980944"/>
            <a:ext cx="190195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22976" y="2980944"/>
            <a:ext cx="1335023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444444"/>
                </a:solidFill>
                <a:latin typeface="맑은 고딕"/>
              </a:rPr>
              <a:t>결제 실패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76288" y="3072384"/>
            <a:ext cx="365760" cy="164592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141463" y="308610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49824" y="3383279"/>
            <a:ext cx="190195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22976" y="3383279"/>
            <a:ext cx="1335023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444444"/>
                </a:solidFill>
                <a:latin typeface="맑은 고딕"/>
              </a:rPr>
              <a:t>오늘 학습 완료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76288" y="3474720"/>
            <a:ext cx="365760" cy="164592"/>
          </a:xfrm>
          <a:prstGeom prst="roundRect">
            <a:avLst>
              <a:gd name="adj" fmla="val 45000"/>
            </a:avLst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894575" y="348843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49824" y="3785615"/>
            <a:ext cx="1901951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22976" y="3785615"/>
            <a:ext cx="1335023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444444"/>
                </a:solidFill>
                <a:latin typeface="맑은 고딕"/>
              </a:rPr>
              <a:t>3일째 학습 안 함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76288" y="3877055"/>
            <a:ext cx="365760" cy="164592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141463" y="389077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449824" y="4242816"/>
            <a:ext cx="1901951" cy="219456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49824" y="4242816"/>
            <a:ext cx="1901951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알림 목록 미정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18120" y="1051560"/>
            <a:ext cx="391363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18120" y="1051560"/>
            <a:ext cx="45720" cy="1225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64424" y="1124712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둘을 합치면 안 된다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64424" y="1344168"/>
            <a:ext cx="3639312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마케팅 수신은 법정 동의 항목이다.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동의·철회 이력을 시각과 함께 남겨야 한다.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서비스 알림은 기능 설정이라 동의와 무관하다.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결제 실패 알림을 "광고 거부" 로 끌 수는 없다.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18120" y="2386584"/>
            <a:ext cx="391363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18120" y="2386584"/>
            <a:ext cx="45720" cy="1225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64424" y="2459736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맑은 고딕"/>
              </a:rPr>
              <a:t>알림 종류가 정의돼 있지 않다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64424" y="2679192"/>
            <a:ext cx="3639312" cy="8595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MY-007 이 있는데 무슨 알림인지 목록이 없다.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왼쪽 5개는 제안이다.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알림이 정해져야 "리포트가 결제 안내보다 먼저 도착한다" 는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순서를 설계할 수 있다.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18120" y="3721608"/>
            <a:ext cx="3913632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818120" y="3721608"/>
            <a:ext cx="45720" cy="85953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64424" y="3794760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그로스 PM 영역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64424" y="4014216"/>
            <a:ext cx="3639312" cy="49377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lib/analytics · lib/services/event.ts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app/(parent)/my/marketing 은 그로스,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나머지 my/** 는 회원·유입 PM 이다 (DEV-001 §6).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휴대폰 인증은 가입 때 이미 받았다 (AUTH-004). 변경 시 재인증이 필요한지는 미정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MY-008 · MY-009 · MY-010 · 계정 관리와 탈퇴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세 화면 모두 COM-007 이 확정되기 전에는 만들지 않는다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310896"/>
            <a:ext cx="2286000" cy="256032"/>
          </a:xfrm>
          <a:prstGeom prst="roundRect">
            <a:avLst>
              <a:gd name="adj" fmla="val 3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310896"/>
            <a:ext cx="2286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COM-007 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1031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051560"/>
            <a:ext cx="2103120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61288"/>
            <a:ext cx="210312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4126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MY-008 계정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37160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371600"/>
            <a:ext cx="1901951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계정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1737360"/>
            <a:ext cx="1901951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1737360"/>
            <a:ext cx="1078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로그아웃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1737360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2066543"/>
            <a:ext cx="1901951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066543"/>
            <a:ext cx="1078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B91C1C"/>
                </a:solidFill>
                <a:latin typeface="맑은 고딕"/>
              </a:rPr>
              <a:t>회원탈퇴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066543"/>
            <a:ext cx="14630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8A"/>
                </a:solidFill>
                <a:latin typeface="맑은 고딕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2578608"/>
            <a:ext cx="1901951" cy="1188720"/>
          </a:xfrm>
          <a:prstGeom prst="rect">
            <a:avLst/>
          </a:prstGeom>
          <a:solidFill>
            <a:srgbClr val="F3EE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2670047"/>
            <a:ext cx="1755647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50" b="0">
                <a:solidFill>
                  <a:srgbClr val="6D28D9"/>
                </a:solidFill>
                <a:latin typeface="맑은 고딕"/>
              </a:rPr>
              <a:t>탈퇴 절차가 미정</a:t>
            </a:r>
          </a:p>
          <a:p>
            <a:pPr algn="l">
              <a:spcAft>
                <a:spcPts val="200"/>
              </a:spcAft>
            </a:pPr>
            <a:r>
              <a:rPr sz="650" b="0">
                <a:solidFill>
                  <a:srgbClr val="6D28D9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650" b="0">
                <a:solidFill>
                  <a:srgbClr val="6D28D9"/>
                </a:solidFill>
                <a:latin typeface="맑은 고딕"/>
              </a:rPr>
              <a:t>· 복구 가능 기간</a:t>
            </a:r>
          </a:p>
          <a:p>
            <a:pPr algn="l">
              <a:spcAft>
                <a:spcPts val="200"/>
              </a:spcAft>
            </a:pPr>
            <a:r>
              <a:rPr sz="650" b="0">
                <a:solidFill>
                  <a:srgbClr val="6D28D9"/>
                </a:solidFill>
                <a:latin typeface="맑은 고딕"/>
              </a:rPr>
              <a:t>· 학생 1명 삭제와</a:t>
            </a:r>
          </a:p>
          <a:p>
            <a:pPr algn="l">
              <a:spcAft>
                <a:spcPts val="200"/>
              </a:spcAft>
            </a:pPr>
            <a:r>
              <a:rPr sz="650" b="0">
                <a:solidFill>
                  <a:srgbClr val="6D28D9"/>
                </a:solidFill>
                <a:latin typeface="맑은 고딕"/>
              </a:rPr>
              <a:t>  계정 전체 탈퇴의 차이</a:t>
            </a:r>
          </a:p>
          <a:p>
            <a:pPr algn="l">
              <a:spcAft>
                <a:spcPts val="200"/>
              </a:spcAft>
            </a:pPr>
            <a:r>
              <a:rPr sz="650" b="0">
                <a:solidFill>
                  <a:srgbClr val="6D28D9"/>
                </a:solidFill>
                <a:latin typeface="맑은 고딕"/>
              </a:rPr>
              <a:t>· 결제 데이터 보관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1051560"/>
            <a:ext cx="21031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63240" y="1051560"/>
            <a:ext cx="2103120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3240" y="1161288"/>
            <a:ext cx="210312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4126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MY-009 회원탈퇴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137160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63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3824" y="1371600"/>
            <a:ext cx="1901951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회원탈퇴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3824" y="1737360"/>
            <a:ext cx="190195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탈퇴하면 이렇게 됩니다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3824" y="2011679"/>
            <a:ext cx="1901951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2011679"/>
            <a:ext cx="1755647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B91C1C"/>
                </a:solidFill>
                <a:latin typeface="맑은 고딕"/>
              </a:rPr>
              <a:t>아이 3명의 학습기록이 모두 삭제됩니다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3824" y="2468879"/>
            <a:ext cx="1901951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36976" y="2468879"/>
            <a:ext cx="1755647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B91C1C"/>
                </a:solidFill>
                <a:latin typeface="맑은 고딕"/>
              </a:rPr>
              <a:t>지난 리포트를 볼 수 없습니다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3824" y="2926079"/>
            <a:ext cx="1901951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2926079"/>
            <a:ext cx="1755647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B91C1C"/>
                </a:solidFill>
                <a:latin typeface="맑은 고딕"/>
              </a:rPr>
              <a:t>진행 중인 구독이 해지됩니다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3824" y="3383279"/>
            <a:ext cx="1901951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6976" y="3383279"/>
            <a:ext cx="1755647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결제 내역은 법정 기간 동안 보관됩니다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3824" y="3840479"/>
            <a:ext cx="1901951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36976" y="3840479"/>
            <a:ext cx="1755647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학습기록은 1년간 보관 후 삭제됩니다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63824" y="4910328"/>
            <a:ext cx="1901951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63824" y="4910328"/>
            <a:ext cx="1901951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계속하기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49240" y="1051560"/>
            <a:ext cx="2103120" cy="4434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49240" y="1051560"/>
            <a:ext cx="2103120" cy="219456"/>
          </a:xfrm>
          <a:prstGeom prst="roundRect">
            <a:avLst>
              <a:gd name="adj" fmla="val 4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49240" y="1161288"/>
            <a:ext cx="210312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58968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</a:rPr>
              <a:t>9:41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19" y="1051560"/>
            <a:ext cx="9144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맑은 고딕"/>
              </a:rPr>
              <a:t>●●● 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9240" y="5541264"/>
            <a:ext cx="21031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MY-010 회원탈퇴 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1371600"/>
            <a:ext cx="2103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9824" y="1371600"/>
            <a:ext cx="27432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9824" y="1371600"/>
            <a:ext cx="1901951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본인 확인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9824" y="1737360"/>
            <a:ext cx="190195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맑은 고딕"/>
              </a:rPr>
              <a:t>본인 확인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9824" y="1993391"/>
            <a:ext cx="1901951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비밀번호를 입력하세요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9824" y="2212848"/>
            <a:ext cx="1901951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9824" y="2670048"/>
            <a:ext cx="1901951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8A8A8A"/>
                </a:solidFill>
                <a:latin typeface="맑은 고딕"/>
              </a:rPr>
              <a:t>탈퇴 사유 (선택)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9824" y="2889504"/>
            <a:ext cx="1901951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49824" y="3621024"/>
            <a:ext cx="128016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50992" y="3584448"/>
            <a:ext cx="1627631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444444"/>
                </a:solidFill>
                <a:latin typeface="맑은 고딕"/>
              </a:rPr>
              <a:t>위 내용을 확인했습니다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49824" y="4910328"/>
            <a:ext cx="1901951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9824" y="4910328"/>
            <a:ext cx="1901951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탈퇴하기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8120" y="1051560"/>
            <a:ext cx="391363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18120" y="1051560"/>
            <a:ext cx="45720" cy="10424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4" y="1124712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28D9"/>
                </a:solidFill>
                <a:latin typeface="맑은 고딕"/>
              </a:rPr>
              <a:t>COM-007 §5 가 막고 있다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64424" y="1344168"/>
            <a:ext cx="3639312" cy="6766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학생 프로필 삭제 절차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회원탈퇴 절차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학생 1명 삭제와 계정 전체 탈퇴의 차이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삭제 요청 후 복구 가능 기간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203704"/>
            <a:ext cx="39136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18120" y="2203704"/>
            <a:ext cx="45720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64424" y="2276856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맑은 고딕"/>
              </a:rPr>
              <a:t>이미 정해진 것 하나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64424" y="2496312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Student 삭제 후 학습기록을 1년 유지한다 (COM-002 §18).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1년 뒤 완전삭제인지 익명화인지는 미정이다.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18120" y="2990088"/>
            <a:ext cx="39136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18120" y="2990088"/>
            <a:ext cx="4572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64424" y="3063240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맑은 고딕"/>
              </a:rPr>
              <a:t>결제 데이터는 별개다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64424" y="3282696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법정 보관기간이 있어 탈퇴해도 바로 못 지운다.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탈퇴 안내 화면에 이 사실을 적어야 한다.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18120" y="3776472"/>
            <a:ext cx="391363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818120" y="3776472"/>
            <a:ext cx="45720" cy="49377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64424" y="3849624"/>
            <a:ext cx="363931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7F3D"/>
                </a:solidFill>
                <a:latin typeface="맑은 고딕"/>
              </a:rPr>
              <a:t>탈퇴 사유는 받아 둘 가치가 크다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64424" y="4069080"/>
            <a:ext cx="3639312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해지 사유와 함께 가장 솔직한 데이터다.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탈퇴 흐름 · MY-008 → MY-009 → MY-010 → 본인 확인 → 완료 State → AUTH-001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정리하며 찾은 빈 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문서에 정의가 없어 지금은 구현할 수 없는 것들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264490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2644902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07008"/>
            <a:ext cx="365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맑은 고딕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536192"/>
            <a:ext cx="2352294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맑은 고딕"/>
              </a:rPr>
              <a:t>학생이 여러 명일 때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맑은 고딕"/>
              </a:rPr>
              <a:t>리포트 진입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121408"/>
            <a:ext cx="2352294" cy="11887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LearningReport 는 student_id 단위다.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아이가 셋이면 리포트도 셋인데,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[리포트] 탭이 누구 것을 보여줄지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정의가 없다.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" y="3401568"/>
            <a:ext cx="2388870" cy="10058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474720"/>
            <a:ext cx="220599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91C1C"/>
                </a:solidFill>
                <a:latin typeface="맑은 고딕"/>
              </a:rPr>
              <a:t>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675887"/>
            <a:ext cx="2205990" cy="6858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부모 HOME 카드 → 그 학생 리포트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[리포트] 탭 상단에 학생 선택기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" y="4517136"/>
            <a:ext cx="238887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590288"/>
            <a:ext cx="220599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B91C1C"/>
                </a:solidFill>
                <a:latin typeface="맑은 고딕"/>
              </a:rPr>
              <a:t>COM-003 §4.5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8990" y="1051560"/>
            <a:ext cx="264490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8990" y="1051560"/>
            <a:ext cx="2644902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5294" y="1207008"/>
            <a:ext cx="365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맑은 고딕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5294" y="1536192"/>
            <a:ext cx="2352294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맑은 고딕"/>
              </a:rPr>
              <a:t>일별 현황을 볼 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5294" y="2121408"/>
            <a:ext cx="2352294" cy="11887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주간 리포트는 주 1회다.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"오늘 아이가 했나" 를 볼 데가 없다.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학생에게는 STU-006 달력을 만드는데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부모에게는 대응물이 없다.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7006" y="3401568"/>
            <a:ext cx="2388870" cy="10058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8446" y="3474720"/>
            <a:ext cx="220599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8446" y="3675887"/>
            <a:ext cx="2205990" cy="6858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부모 HOME 카드에 이번 주 7일 점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새 화면을 만들지 않는다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7006" y="4517136"/>
            <a:ext cx="238887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8446" y="4590288"/>
            <a:ext cx="220599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COM-003 §4.4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60" y="1051560"/>
            <a:ext cx="264490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5060" y="1051560"/>
            <a:ext cx="2644902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1364" y="1207008"/>
            <a:ext cx="365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맑은 고딕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1364" y="1536192"/>
            <a:ext cx="2352294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맑은 고딕"/>
              </a:rPr>
              <a:t>알림 종류와 발송 시점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1364" y="2121408"/>
            <a:ext cx="2352294" cy="11887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MY-007 알림 설정이 있는데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무슨 알림인지 목록이 없다.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리포트가 결제 안내보다 먼저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도착해야 하는데 순서를 못 잡는다.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3076" y="3401568"/>
            <a:ext cx="2388870" cy="10058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4516" y="3474720"/>
            <a:ext cx="220599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91C1C"/>
                </a:solidFill>
                <a:latin typeface="맑은 고딕"/>
              </a:rPr>
              <a:t>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675887"/>
            <a:ext cx="2205990" cy="6858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리포트 도착 · 체험 종료 3일 전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결제 실패 · 오늘 학습 완료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3일째 학습 안 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3076" y="4517136"/>
            <a:ext cx="238887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4516" y="4590288"/>
            <a:ext cx="220599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B91C1C"/>
                </a:solidFill>
                <a:latin typeface="맑은 고딕"/>
              </a:rPr>
              <a:t>COM-003 §4.7</a:t>
            </a:r>
          </a:p>
          <a:p>
            <a:pPr algn="l">
              <a:spcAft>
                <a:spcPts val="100"/>
              </a:spcAft>
            </a:pPr>
            <a:r>
              <a:rPr sz="750" b="1">
                <a:solidFill>
                  <a:srgbClr val="B91C1C"/>
                </a:solidFill>
                <a:latin typeface="맑은 고딕"/>
              </a:rPr>
              <a:t>lib/services/event.ts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1130" y="1051560"/>
            <a:ext cx="264490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1130" y="1051560"/>
            <a:ext cx="2644902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7434" y="1207008"/>
            <a:ext cx="365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맑은 고딕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7434" y="1536192"/>
            <a:ext cx="2352294" cy="4754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맑은 고딕"/>
              </a:rPr>
              <a:t>PIN 재설정 확인 수단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7434" y="2121408"/>
            <a:ext cx="2352294" cy="11887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PIN 을 잊으면 부모가 자기 영역에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못 들어간다. 결제도 해지도 못 한다.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COM-003 은 "보호자 확인" 이라고만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적었다.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69146" y="3401568"/>
            <a:ext cx="2388870" cy="10058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0586" y="3474720"/>
            <a:ext cx="220599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제안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0586" y="3675887"/>
            <a:ext cx="2205990" cy="6858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계정 비밀번호 재입력을 권한다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아이는 모르고 부모는 안다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69146" y="4517136"/>
            <a:ext cx="238887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60586" y="4590288"/>
            <a:ext cx="220599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B45309"/>
                </a:solidFill>
                <a:latin typeface="맑은 고딕"/>
              </a:rPr>
              <a:t>COM-003 §5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넷 다 COM-003 변경 사항이다. 화면을 먼저 만들지 않고 문서 변경을 제안한다 (COM-003 §13-9)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86384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정해야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5953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부모 영역 22개 중 4개는 정책이 없어 손댈 수 없다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264490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2644902" cy="45720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25296"/>
            <a:ext cx="2352294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7F3D"/>
                </a:solidFill>
                <a:latin typeface="맑은 고딕"/>
              </a:rPr>
              <a:t>지금 정할 수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6276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부모 HOME 카드 → 리포트 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9339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카드에 이번 주 7일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5915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[리포트] 탭 학생 선택기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72491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알림 5종과 발송 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09067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PIN 재설정 = 계정 비밀번호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4564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탭 배지 (새 리포트 · 체험 D-n)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4315968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4315968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57F3D"/>
                </a:solidFill>
                <a:latin typeface="맑은 고딕"/>
              </a:rPr>
              <a:t>COM-003 변경 제안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8990" y="1051560"/>
            <a:ext cx="264490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8990" y="1051560"/>
            <a:ext cx="2644902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5294" y="1225296"/>
            <a:ext cx="2352294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맑은 고딕"/>
              </a:rPr>
              <a:t>과금 PM 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5294" y="16276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상품 구성과 가격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5294" y="199339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형제 할인 여부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5294" y="235915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PG 사 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5294" y="272491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부분 환불 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5294" y="34564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PG 미확정이라 BIL-003 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5294" y="3822191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껍데기만 먼저 만든다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95294" y="4315968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5294" y="4315968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맑은 고딕"/>
              </a:rPr>
              <a:t>COM-005 §13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5060" y="1051560"/>
            <a:ext cx="264490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5060" y="1051560"/>
            <a:ext cx="2644902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1364" y="1225296"/>
            <a:ext cx="2352294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맑은 고딕"/>
              </a:rPr>
              <a:t>COM-007 대기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364" y="16276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MY-003 학생 삭제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1364" y="199339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MY-008 계정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1364" y="235915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MY-009 · MY-010 탈퇴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1364" y="272491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RPT-002 대화 원문 열람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1364" y="309067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결제 데이터 법정 보관기간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1364" y="34564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학습기록 1년 후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41364" y="4315968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1364" y="4315968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D28D9"/>
                </a:solidFill>
                <a:latin typeface="맑은 고딕"/>
              </a:rPr>
              <a:t>PM 전원 합의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41130" y="1051560"/>
            <a:ext cx="264490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41130" y="1051560"/>
            <a:ext cx="2644902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7434" y="1225296"/>
            <a:ext cx="2352294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D4ED8"/>
                </a:solidFill>
                <a:latin typeface="맑은 고딕"/>
              </a:rPr>
              <a:t>이미 정해진 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7434" y="16276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구독은 학생 단위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7434" y="199339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결제는 부모 계정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7434" y="235915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결제 실패 3일 유예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7434" y="272491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체험 시작 = 최초 학습일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7434" y="309067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만료해도 기록은 남김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7434" y="3456432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내부 지표 → 부모 어휘 6종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7434" y="3822191"/>
            <a:ext cx="235229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캐릭터는 학생이 선택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7434" y="4315968"/>
            <a:ext cx="235229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7434" y="4315968"/>
            <a:ext cx="235229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건드리지 않는다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864608"/>
            <a:ext cx="11183112" cy="9601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4974336"/>
            <a:ext cx="10881360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부모 영역은 서비스 트랙 소유다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회원·유입(AUTH · MY) · 과금(BIL) · 그로스(RPT · marketing) 로 나뉜다. AI 코어 트랙은 이 22개 화면을 구현하지 않는다 (DEV-001 §6).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111858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트랙 밖을 수정하는 PR 은 해당 트랙의 리뷰를 받는다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