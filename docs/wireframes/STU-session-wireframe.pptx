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학생 학습 흐름 · 세션 이어하기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05840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8A8B0"/>
                </a:solidFill>
                <a:latin typeface="맑은 고딕"/>
              </a:rPr>
              <a:t>와이어프레임 · 화면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3520440"/>
            <a:ext cx="1463040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10058400" cy="1280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A4"/>
                </a:solidFill>
                <a:latin typeface="맑은 고딕"/>
              </a:rPr>
              <a:t>날짜별로 몇 문제를 풀었는지 보고, 그 날짜로 들어가 이어서 푼다.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A4"/>
                </a:solidFill>
                <a:latin typeface="맑은 고딕"/>
              </a:rPr>
              <a:t>10문제를 미리 만들지 않는다. 4번째 문제는 그 세션의 1~3번 답변을 보고 그때 만든다.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A4"/>
                </a:solidFill>
                <a:latin typeface="맑은 고딕"/>
              </a:rPr>
              <a:t>학생 화면에 수학 개념명을 쓰지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0707A"/>
                </a:solidFill>
                <a:latin typeface="맑은 고딕"/>
              </a:rPr>
              <a:t>2026-09-03 · COM-001 · COM-003 변경 제안 전 초안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무엇이 없었나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학생이 스스로 복습하러 갈 경로가 한 곳도 없었다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39496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91C1C"/>
                </a:solidFill>
                <a:latin typeface="맑은 고딕"/>
              </a:rPr>
              <a:t>지금까지 — 전부 AI 가 정한다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53896"/>
            <a:ext cx="51206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맑은 고딕"/>
              </a:rPr>
              <a:t>한 번 더 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51206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MIS-001 안의 State. 그 자리에서 바로 이어진다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93976"/>
            <a:ext cx="51206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맑은 고딕"/>
              </a:rPr>
              <a:t>복습 문제 섞기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51206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AI 가 알아서. 취약 4 / 현재수준 4 / 복습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34056"/>
            <a:ext cx="51206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맑은 고딕"/>
              </a:rPr>
              <a:t>오늘의 기록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44368"/>
            <a:ext cx="51206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STU-005. 오늘 결과만 보고 끝. 나가는 링크가 없다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91840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74136"/>
            <a:ext cx="51206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맑은 고딕"/>
              </a:rPr>
              <a:t>학생 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84448"/>
            <a:ext cx="51206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오늘의 미션 · 내가 문제 내기 · 캐릭터 · 학생 바꾸기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69080"/>
            <a:ext cx="5394960" cy="640080"/>
          </a:xfrm>
          <a:prstGeom prst="rect">
            <a:avLst/>
          </a:prstGeom>
          <a:solidFill>
            <a:srgbClr val="FFF4F4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151376"/>
            <a:ext cx="512064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91C1C"/>
                </a:solidFill>
                <a:latin typeface="맑은 고딕"/>
              </a:rPr>
              <a:t>아이가 "어제 못 푼 거 다시 해볼래" 할 방법이 없다.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005840"/>
            <a:ext cx="53492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4ED8"/>
                </a:solidFill>
                <a:latin typeface="맑은 고딕"/>
              </a:rPr>
              <a:t>왜 문제인가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371600"/>
            <a:ext cx="5349240" cy="9601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481328"/>
            <a:ext cx="5029200" cy="7772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</a:rPr>
              <a:t>Drill-down 5단계의 마지막은 성찰이다.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</a:rPr>
              <a:t>   판단 → 근거 → 규칙 → 전이 → 성찰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450592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450592"/>
            <a:ext cx="45720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2560320"/>
            <a:ext cx="5029200" cy="10515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아이에게 "뭘 몰랐는지 돌아봐" 라고 시켜 놓고,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돌아본 결과로 할 수 있는 게 아무것도 없다.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성찰이 대화 안에서만 끝나고 행동으로 이어지지 않는다.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메타인지 서비스에서 이건 큰 구멍이다.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3822191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822191"/>
            <a:ext cx="45720" cy="1417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3931920"/>
            <a:ext cx="5029200" cy="12344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그래서 만드는 것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날짜별로 몇 문제 풀었는지 보는 화면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그 날짜로 들어가 이어서 푸는 길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한 번 더 해볼 문제로 가는 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새 화면이 필요하면 Route 를 먼저 만들지 않고 COM-003 변경을 제안한다 (COM-003 §13-9)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학생 화면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하단 고정 Navigation 없음. 모든 진입은 학생 HOME 에서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212848"/>
            <a:ext cx="2066543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A1A1A"/>
                </a:solidFill>
                <a:latin typeface="맑은 고딕"/>
              </a:rPr>
              <a:t>STU-004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395727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학생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51760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오늘의 미션 · 진입점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05156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1051560"/>
            <a:ext cx="2286000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1161288"/>
            <a:ext cx="2066543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45309"/>
                </a:solidFill>
                <a:latin typeface="맑은 고딕"/>
              </a:rPr>
              <a:t>MIS-001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1344168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미션 진행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1600200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날짜 표시 추가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10312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2103120"/>
            <a:ext cx="2286000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2212848"/>
            <a:ext cx="2066543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맑은 고딕"/>
              </a:rPr>
              <a:t>STU-006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2395727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나의 학습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2651760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달력 · 이어하기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315468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72968" y="3264408"/>
            <a:ext cx="2066543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A1A1A"/>
                </a:solidFill>
                <a:latin typeface="맑은 고딕"/>
              </a:rPr>
              <a:t>STU-003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3447288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캐릭터 바꾸기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2968" y="3703320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다음 문제부터 적용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420624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2968" y="4315968"/>
            <a:ext cx="2066543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A1A1A"/>
                </a:solidFill>
                <a:latin typeface="맑은 고딕"/>
              </a:rPr>
              <a:t>STU-002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4498848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학생 바꾸기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10312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23560" y="2103120"/>
            <a:ext cx="2286000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3288" y="2212848"/>
            <a:ext cx="2066543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0E7C86"/>
                </a:solidFill>
                <a:latin typeface="맑은 고딕"/>
              </a:rPr>
              <a:t>STU-006a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3288" y="2395727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날짜 상세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3288" y="2651760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그날 푼 문제 목록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105156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7" y="1161288"/>
            <a:ext cx="2066543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45309"/>
                </a:solidFill>
                <a:latin typeface="맑은 고딕"/>
              </a:rPr>
              <a:t>MIS-001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7" y="1344168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이어서 하기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7" y="1600200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그 세션의 다음 문제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315468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7" y="3264408"/>
            <a:ext cx="2066543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45309"/>
                </a:solidFill>
                <a:latin typeface="맑은 고딕"/>
              </a:rPr>
              <a:t>MIS-001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7" y="3447288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다시 해보기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7" y="3703320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한 번 더 해볼 문제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420624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33288" y="4315968"/>
            <a:ext cx="2066543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A1A1A"/>
                </a:solidFill>
                <a:latin typeface="맑은 고딕"/>
              </a:rPr>
              <a:t>STU-005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4498848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오늘의 기록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33288" y="4754879"/>
            <a:ext cx="2066543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오늘 결과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8064" y="2404872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58384" y="2404872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18704" y="2404872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98064" y="1353312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98064" y="3456432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98064" y="4507992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18704" y="1353312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18704" y="3456432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44200" y="1051560"/>
            <a:ext cx="960120" cy="219456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44200" y="1051560"/>
            <a:ext cx="9601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신설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744200" y="1344168"/>
            <a:ext cx="960120" cy="219456"/>
          </a:xfrm>
          <a:prstGeom prst="roundRect">
            <a:avLst>
              <a:gd name="adj" fmla="val 3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1344168"/>
            <a:ext cx="9601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수정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257800"/>
            <a:ext cx="11155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화면 35개 → 36개 · COM-003 §12 합계와 DEV-002 Route 매핑도 함께 고친다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STU-006a 날짜 상세는 별도 Route 가 아니라 STU-006 안의 State 로 둔다 (COM-003 §13-3)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STU-004 · 학생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진입점 하나를 더한다. Primary Action 은 여전히 1개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310896"/>
            <a:ext cx="2286000" cy="256032"/>
          </a:xfrm>
          <a:prstGeom prst="roundRect">
            <a:avLst>
              <a:gd name="adj" fmla="val 3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310896"/>
            <a:ext cx="2286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수정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학생 HOME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1371600"/>
            <a:ext cx="2194560" cy="132588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28800"/>
            <a:ext cx="21945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[ 캐릭터 그림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788920"/>
            <a:ext cx="21945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민준이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" y="3154680"/>
            <a:ext cx="2194560" cy="566928"/>
          </a:xfrm>
          <a:prstGeom prst="roundRect">
            <a:avLst>
              <a:gd name="adj" fmla="val 14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236976"/>
            <a:ext cx="219456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오늘의 미션 시작하기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456432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BBBBC2"/>
                </a:solidFill>
                <a:latin typeface="맑은 고딕"/>
              </a:rPr>
              <a:t>0 /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3867912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867912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내가 문제 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3867912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4197096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197096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나의 학습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5456" y="4261104"/>
            <a:ext cx="237744" cy="146304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05456" y="4261104"/>
            <a:ext cx="237744" cy="14630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2928" y="4197096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" y="4526279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526279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캐릭터 바꾸기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4526279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" y="4946903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4946903"/>
            <a:ext cx="1005839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학생 바꾸기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75104" y="4946903"/>
            <a:ext cx="987552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보호자 메뉴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1051560"/>
            <a:ext cx="80741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1051560"/>
            <a:ext cx="4572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03904" y="1124712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더하는 것은 한 줄뿐이다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03904" y="1344168"/>
            <a:ext cx="7799831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[나의 학습] 행 하나. 옆의 숫자 3 은 이어서 할 수 있는 날의 수다.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있을 때만 표시하고, 없으면 숫자를 감춘다.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1837943"/>
            <a:ext cx="80741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0" y="1837943"/>
            <a:ext cx="45720" cy="67665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03904" y="1911095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Primary Action 은 그대로 1개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3904" y="2130551"/>
            <a:ext cx="7799831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오늘의 미션이 Primary 다. 이어하기는 [나의 학습] 안으로 들어간다.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COM-003 §4 의 "Primary Action 1개" 원칙과 부딪히지 않는다.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2624328"/>
            <a:ext cx="80741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0" y="2624328"/>
            <a:ext cx="45720" cy="10424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03904" y="2697480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어제 하던 문제가 있으면 먼저 묻는다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03904" y="2916936"/>
            <a:ext cx="7799831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진행 중이던 문제가 있을 때만 Primary 자리를 바꾼다.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 "어제 풀던 문제가 있어! 이어서 해볼까?"  [이어서 하기] [새로 시작하기]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어제 3문제를 깔끔히 끝내고 껐다면 묻지 않는다. 그냥 오늘의 미션이다.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0" y="3776472"/>
            <a:ext cx="80741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3776472"/>
            <a:ext cx="45720" cy="67665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03904" y="3849624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맑은 고딕"/>
              </a:rPr>
              <a:t>쓰지 않는 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03904" y="4069080"/>
            <a:ext cx="7799831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미완료 · 못 푼 문제 · 남은 문제 · 밀린 학습 · 오답노트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숫자를 보여주는 건 괜찮다. "못 했다" 는 말만 안 쓴다.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학생에게는 하단 고정 Navigation 이 없다 (COM-003 §11)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STU-006 · 나의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날짜별 현황 · 이어서 할 수 있는 날 · 한 번 더 해볼 문제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310896"/>
            <a:ext cx="2286000" cy="256032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310896"/>
            <a:ext cx="2286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신설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나의 학습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나의 학습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1737360"/>
            <a:ext cx="21945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1792224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‹     9월     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201167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맑은 고딕"/>
              </a:rPr>
              <a:t>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1332" y="201167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맑은 고딕"/>
              </a:rPr>
              <a:t>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4841" y="201167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맑은 고딕"/>
              </a:rPr>
              <a:t>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8349" y="201167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맑은 고딕"/>
              </a:rPr>
              <a:t>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1858" y="201167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맑은 고딕"/>
              </a:rPr>
              <a:t>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5366" y="201167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맑은 고딕"/>
              </a:rPr>
              <a:t>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58875" y="201167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맑은 고딕"/>
              </a:rPr>
              <a:t>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1332" y="2194560"/>
            <a:ext cx="31350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1A1A1A"/>
                </a:solidFill>
                <a:latin typeface="맑은 고딕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1332" y="237743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157F3D"/>
                </a:solidFill>
                <a:latin typeface="맑은 고딕"/>
              </a:rPr>
              <a:t>10</a:t>
            </a:r>
          </a:p>
        </p:txBody>
      </p:sp>
      <p:sp>
        <p:nvSpPr>
          <p:cNvPr id="27" name="Oval 26"/>
          <p:cNvSpPr/>
          <p:nvPr/>
        </p:nvSpPr>
        <p:spPr>
          <a:xfrm>
            <a:off x="1252074" y="2560320"/>
            <a:ext cx="50292" cy="50292"/>
          </a:xfrm>
          <a:prstGeom prst="ellipse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0654" y="2560320"/>
            <a:ext cx="50292" cy="50292"/>
          </a:xfrm>
          <a:prstGeom prst="ellipse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89234" y="2560320"/>
            <a:ext cx="50292" cy="50292"/>
          </a:xfrm>
          <a:prstGeom prst="ellipse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841" y="2194560"/>
            <a:ext cx="31350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1A1A1A"/>
                </a:solidFill>
                <a:latin typeface="맑은 고딕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4841" y="237743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444444"/>
                </a:solidFill>
                <a:latin typeface="맑은 고딕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1565583" y="2560320"/>
            <a:ext cx="50292" cy="502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34163" y="2560320"/>
            <a:ext cx="50292" cy="502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702743" y="2560320"/>
            <a:ext cx="50292" cy="502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8349" y="2194560"/>
            <a:ext cx="31350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1A1A1A"/>
                </a:solidFill>
                <a:latin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18349" y="237743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444444"/>
                </a:solidFill>
                <a:latin typeface="맑은 고딕"/>
              </a:rPr>
              <a:t>8</a:t>
            </a:r>
          </a:p>
        </p:txBody>
      </p:sp>
      <p:sp>
        <p:nvSpPr>
          <p:cNvPr id="37" name="Oval 36"/>
          <p:cNvSpPr/>
          <p:nvPr/>
        </p:nvSpPr>
        <p:spPr>
          <a:xfrm>
            <a:off x="1879091" y="2560320"/>
            <a:ext cx="50292" cy="502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47672" y="2560320"/>
            <a:ext cx="50292" cy="502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016251" y="2560320"/>
            <a:ext cx="50292" cy="502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31858" y="2194560"/>
            <a:ext cx="31350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1A1A1A"/>
                </a:solidFill>
                <a:latin typeface="맑은 고딕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1858" y="237743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444444"/>
                </a:solidFill>
                <a:latin typeface="맑은 고딕"/>
              </a:rPr>
              <a:t>6</a:t>
            </a:r>
          </a:p>
        </p:txBody>
      </p:sp>
      <p:sp>
        <p:nvSpPr>
          <p:cNvPr id="42" name="Oval 41"/>
          <p:cNvSpPr/>
          <p:nvPr/>
        </p:nvSpPr>
        <p:spPr>
          <a:xfrm>
            <a:off x="2192600" y="2560320"/>
            <a:ext cx="50292" cy="502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61180" y="2560320"/>
            <a:ext cx="50292" cy="502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29760" y="2560320"/>
            <a:ext cx="50292" cy="502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45366" y="2194560"/>
            <a:ext cx="31350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1A1A1A"/>
                </a:solidFill>
                <a:latin typeface="맑은 고딕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45366" y="237743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F0F0F2"/>
                </a:solidFill>
                <a:latin typeface="맑은 고딕"/>
              </a:rPr>
              <a:t>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58875" y="2194560"/>
            <a:ext cx="31350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1A1A1A"/>
                </a:solidFill>
                <a:latin typeface="맑은 고딕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58875" y="2377439"/>
            <a:ext cx="313508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F0F0F2"/>
                </a:solidFill>
                <a:latin typeface="맑은 고딕"/>
              </a:rPr>
              <a:t>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2779776"/>
            <a:ext cx="2084831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숫자 = 그날 푼 문제 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" y="3127248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이어서 할 수 있어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" y="3364991"/>
            <a:ext cx="21945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" y="3419856"/>
            <a:ext cx="1463039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9월 4일 (목)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14015" y="3419856"/>
            <a:ext cx="56692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6 / 10</a:t>
            </a:r>
          </a:p>
        </p:txBody>
      </p:sp>
      <p:sp>
        <p:nvSpPr>
          <p:cNvPr id="54" name="Oval 53"/>
          <p:cNvSpPr/>
          <p:nvPr/>
        </p:nvSpPr>
        <p:spPr>
          <a:xfrm>
            <a:off x="969264" y="3648456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63447" y="3648456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57630" y="3648456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51813" y="3648456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45996" y="3648456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440180" y="3648456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534363" y="3648456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28546" y="3648456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722729" y="3648456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816912" y="3648456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40863" y="3621024"/>
            <a:ext cx="64008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1">
                <a:solidFill>
                  <a:srgbClr val="1D4ED8"/>
                </a:solidFill>
                <a:latin typeface="맑은 고딕"/>
              </a:rPr>
              <a:t>이어서 하기 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" y="3968496"/>
            <a:ext cx="21945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264" y="4023359"/>
            <a:ext cx="1463039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9월 3일 (수)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14015" y="4023359"/>
            <a:ext cx="56692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8 / 10</a:t>
            </a:r>
          </a:p>
        </p:txBody>
      </p:sp>
      <p:sp>
        <p:nvSpPr>
          <p:cNvPr id="68" name="Oval 67"/>
          <p:cNvSpPr/>
          <p:nvPr/>
        </p:nvSpPr>
        <p:spPr>
          <a:xfrm>
            <a:off x="969264" y="4251959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63447" y="4251959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57630" y="4251959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251813" y="4251959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45996" y="4251959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440180" y="4251959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534363" y="4251959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628546" y="4251959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722729" y="4251959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816912" y="4251959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40863" y="4224528"/>
            <a:ext cx="64008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1">
                <a:solidFill>
                  <a:srgbClr val="1D4ED8"/>
                </a:solidFill>
                <a:latin typeface="맑은 고딕"/>
              </a:rPr>
              <a:t>이어서 하기 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" y="4572000"/>
            <a:ext cx="21945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9264" y="4626864"/>
            <a:ext cx="1463039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9월 2일 (화)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14015" y="4626864"/>
            <a:ext cx="56692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3 / 10</a:t>
            </a:r>
          </a:p>
        </p:txBody>
      </p:sp>
      <p:sp>
        <p:nvSpPr>
          <p:cNvPr id="82" name="Oval 81"/>
          <p:cNvSpPr/>
          <p:nvPr/>
        </p:nvSpPr>
        <p:spPr>
          <a:xfrm>
            <a:off x="969264" y="4855464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63447" y="4855464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57630" y="4855464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251813" y="4855464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345996" y="4855464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440180" y="4855464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534363" y="4855464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628546" y="4855464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722729" y="4855464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816912" y="4855464"/>
            <a:ext cx="68580" cy="6858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40863" y="4828032"/>
            <a:ext cx="64008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1">
                <a:solidFill>
                  <a:srgbClr val="1D4ED8"/>
                </a:solidFill>
                <a:latin typeface="맑은 고딕"/>
              </a:rPr>
              <a:t>이어서 하기 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7824" y="5212080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한 번 더 해볼 문제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77824" y="5431536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5431536"/>
            <a:ext cx="137160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9월 2일 문제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86000" y="5431536"/>
            <a:ext cx="694944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1">
                <a:solidFill>
                  <a:srgbClr val="1D4ED8"/>
                </a:solidFill>
                <a:latin typeface="맑은 고딕"/>
              </a:rPr>
              <a:t>다시 해보기 ›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0" y="1051560"/>
            <a:ext cx="8074152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657600" y="1051560"/>
            <a:ext cx="45720" cy="159105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803904" y="1124712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맑은 고딕"/>
              </a:rPr>
              <a:t>개념명을 넣지 않는다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03904" y="1344168"/>
            <a:ext cx="7799831" cy="12252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"혼합계산 · 비와 비율" 같은 단원명을 쓰지 않는다. 이유가 둘이다.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1. 사실상 취약점 라벨이다. 아이는 "내가 혼합계산을 못 했구나" 로 읽는다.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   학생 화면에 Logic Gap 을 노출하지 않기로 한 규칙의 우회로가 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2. 단원명이 깔리면 문제집 앱이 된다. 이 제품이 파는 것은 진도가 아니다.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Problem.concept 은 그대로 저장하고 부모 리포트에서만 쓴다.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0" y="2752344"/>
            <a:ext cx="80741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657600" y="2752344"/>
            <a:ext cx="4572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803904" y="2825496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최신순 3개만 보여준다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03904" y="3044952"/>
            <a:ext cx="7799831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미완인 날이 5일치면 화면이 숙제 목록이 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진행률이 낮은 순으로 정렬하면 못한 것부터 들이미는 꼴이 되므로 최신순으로 둔다.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0" y="3538728"/>
            <a:ext cx="807415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657600" y="3538728"/>
            <a:ext cx="45720" cy="85953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03904" y="3611880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달력은 30일까지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03904" y="3831336"/>
            <a:ext cx="7799831" cy="49377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30일이 지난 날은 달력에 숫자로만 남고 [이어서 하기] 버튼이 사라진다.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session_status 는 incomplete 인 채로 둔다. 억지로 completed 로 바꾸면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리포트 숫자가 거짓말이 된다.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날짜를 누르면 그날 푼 문제 목록이 열린다 — 다음 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STU-006 · 날짜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별도 Route 가 아니라 나의 학습 안의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310896"/>
            <a:ext cx="2286000" cy="256032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310896"/>
            <a:ext cx="2286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신설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날짜 상세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9월 2일 (화)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1737360"/>
            <a:ext cx="219456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1810512"/>
            <a:ext cx="2011679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3 / 10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" y="2084831"/>
            <a:ext cx="77724" cy="777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4420" y="2084831"/>
            <a:ext cx="77724" cy="777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79576" y="2084831"/>
            <a:ext cx="77724" cy="777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4732" y="2084831"/>
            <a:ext cx="77724" cy="77724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89888" y="2084831"/>
            <a:ext cx="77724" cy="77724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95044" y="2084831"/>
            <a:ext cx="77724" cy="77724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00200" y="2084831"/>
            <a:ext cx="77724" cy="77724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05356" y="2084831"/>
            <a:ext cx="77724" cy="77724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10512" y="2084831"/>
            <a:ext cx="77724" cy="77724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15668" y="2084831"/>
            <a:ext cx="77724" cy="77724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432304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푼 문제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" y="2670048"/>
            <a:ext cx="2194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2715768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1번째 문제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2880360"/>
            <a:ext cx="2011679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157F3D"/>
                </a:solidFill>
                <a:latin typeface="맑은 고딕"/>
              </a:rPr>
              <a:t>스스로 해결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" y="3127248"/>
            <a:ext cx="2194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3172968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2번째 문제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" y="3337560"/>
            <a:ext cx="2011679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1D4ED8"/>
                </a:solidFill>
                <a:latin typeface="맑은 고딕"/>
              </a:rPr>
              <a:t>함께 해결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" y="3584448"/>
            <a:ext cx="2194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3630168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3번째 문제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" y="3794760"/>
            <a:ext cx="2011679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B45309"/>
                </a:solidFill>
                <a:latin typeface="맑은 고딕"/>
              </a:rPr>
              <a:t>한 번 더 해볼까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" y="4096511"/>
            <a:ext cx="2194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F0F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4096511"/>
            <a:ext cx="2194560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4번째 문제부터는 아직 없어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" y="4608576"/>
            <a:ext cx="2194560" cy="402336"/>
          </a:xfrm>
          <a:prstGeom prst="roundRect">
            <a:avLst>
              <a:gd name="adj" fmla="val 1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" y="4608576"/>
            <a:ext cx="2194560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이어서 하기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" y="5065776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4번째 문제부터 시작해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1051560"/>
            <a:ext cx="8074152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0" y="1051560"/>
            <a:ext cx="45720" cy="14081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03904" y="1124712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문제 상태도 학생 어휘로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03904" y="1344168"/>
            <a:ext cx="7799831" cy="10424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내부 값                    학생 화면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completed              스스로 해결 / 함께 해결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needs_review           한 번 더 해볼까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system_interrupted     표시하지 않음 (아이 잘못이 아니다)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점수 · 정답률 · Logic Gap · verified_answer 는 어디에도 안 나온다.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2569464"/>
            <a:ext cx="80741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0" y="2569464"/>
            <a:ext cx="45720" cy="6766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03904" y="2642616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"아직 없어" 를 분명히 보여준다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03904" y="2862072"/>
            <a:ext cx="7799831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10문제가 미리 만들어져 있지 않다는 걸 화면이 말해 준다.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빈 칸 10개를 그려 놓으면 아이는 "7개 밀렸다" 로 읽는다.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3355848"/>
            <a:ext cx="80741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0" y="3355848"/>
            <a:ext cx="45720" cy="67665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03904" y="3429000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변환은 한 곳에서만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03904" y="3648456"/>
            <a:ext cx="7799831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src/lib/constants/copy.ts 에서만 학생 어휘 ↔ 내부 값을 바꾼다.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화면마다 따로 문자열을 쓰면 곧 어긋난다. (CLAUDE.md · COM-003 §7)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State 는 Route 로 만들지 않는다 (COM-003 §13-3)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4번째 문제는 어떻게 만들어지나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10문제를 미리 만들지 않는다. 그 시점에 1~3번 답변을 보고 만든다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020824" cy="868680"/>
          </a:xfrm>
          <a:prstGeom prst="rect">
            <a:avLst/>
          </a:prstGeom>
          <a:solidFill>
            <a:srgbClr val="F7F7F8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80136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맑은 고딕"/>
              </a:rPr>
              <a:t>9월 2일 세션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572768"/>
            <a:ext cx="1801368" cy="4754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Problem 1~3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각 Evaluation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그 세션의 LogicGap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7" y="1563624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234440"/>
            <a:ext cx="2020824" cy="868680"/>
          </a:xfrm>
          <a:prstGeom prst="rect">
            <a:avLst/>
          </a:prstGeom>
          <a:solidFill>
            <a:srgbClr val="F2F7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1325880"/>
            <a:ext cx="180136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StudentMemory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572768"/>
            <a:ext cx="1801368" cy="4754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지금 것을 쓴다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(9/2 스냅샷 아님)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563624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1234440"/>
            <a:ext cx="2020824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1325880"/>
            <a:ext cx="180136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맑은 고딕"/>
              </a:rPr>
              <a:t>Prompt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572768"/>
            <a:ext cx="1801368" cy="4754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NEXT PROBLEM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다음 문제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1563624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234440"/>
            <a:ext cx="2020824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648" y="1325880"/>
            <a:ext cx="180136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맑은 고딕"/>
              </a:rPr>
              <a:t>Prompt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8" y="1572768"/>
            <a:ext cx="1801368" cy="4754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정답 검증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Answer 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1563624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1234440"/>
            <a:ext cx="2020824" cy="868680"/>
          </a:xfrm>
          <a:prstGeom prst="rect">
            <a:avLst/>
          </a:prstGeom>
          <a:solidFill>
            <a:srgbClr val="E9F7EE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1325880"/>
            <a:ext cx="180136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7F3D"/>
                </a:solidFill>
                <a:latin typeface="맑은 고딕"/>
              </a:rPr>
              <a:t>4번째 문제 출제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1572768"/>
            <a:ext cx="1801368" cy="4754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MIS-001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미션 진행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377440"/>
            <a:ext cx="553212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377440"/>
            <a:ext cx="45720" cy="104241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2450592"/>
            <a:ext cx="525780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프롬프트는 하나도 안 바꿔도 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2670048"/>
            <a:ext cx="5257800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지금 구조가 이미 "직전까지의 결과를 보고 다음 문제를 정한다" 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 맥락만 그 날짜 것을 넣어 주면 그대로 돈다.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docs/prompts/logic-auditor.md 수정 없음.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529584"/>
            <a:ext cx="553212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529584"/>
            <a:ext cx="45720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3602736"/>
            <a:ext cx="525780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세션끼리 섞이지 않는다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3822192"/>
            <a:ext cx="5257800" cy="49377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9/2 의 4번째 문제는 9/2 의 1~3번만 본다.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오늘 세션의 문제들은 입력에 넣지 않는다.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그래서 오늘 미션과 9/2 이어하기를 동시에 열어도 서로 간섭하지 않는다.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2377440"/>
            <a:ext cx="553212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2377440"/>
            <a:ext cx="45720" cy="1225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2450592"/>
            <a:ext cx="525780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StudentMemory 는 지금 것 (결정됨)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670048"/>
            <a:ext cx="5257800" cy="8595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그 사이 아이는 더 배웠다. 4번째 문제의 소재는 그날의 1~3번이 정하되,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난이도는 지금 수준에 맞춘다.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9/2 당시 스냅샷을 쓰는 안은 버렸다. 저장 구조가 늘어나는 데 비해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얻는 게 적다.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3712464"/>
            <a:ext cx="55321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9632" y="3712464"/>
            <a:ext cx="4572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3785616"/>
            <a:ext cx="525780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이어서 푼 문제도 평가에 정상 반영 (결정됨)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4005072"/>
            <a:ext cx="52578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Evaluation · LogicGap · StudentMemory 에 그대로 쌓인다.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나중에 풀었다고 빼지 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문제 생성 → 검증 → Answer Lock 순서는 기존과 같다. 검증 실패 시 학습에 쓰지 않는다 (COM-001 §17)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세션 이어하기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확정된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83112" cy="42062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29957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8A8A"/>
                </a:solidFill>
                <a:latin typeface="맑은 고딕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7945" y="1097280"/>
            <a:ext cx="225466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8A8A"/>
                </a:solidFill>
                <a:latin typeface="맑은 고딕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4053" y="1097280"/>
            <a:ext cx="334951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8A8A"/>
                </a:solidFill>
                <a:latin typeface="맑은 고딕"/>
              </a:rPr>
              <a:t>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5010" y="1097280"/>
            <a:ext cx="4913589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8A8A"/>
                </a:solidFill>
                <a:latin typeface="맑은 고딕"/>
              </a:rPr>
              <a:t>이유 · 영향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17904"/>
            <a:ext cx="1118311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517904"/>
            <a:ext cx="29957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945" y="1517904"/>
            <a:ext cx="225466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StudentMemory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4053" y="1517904"/>
            <a:ext cx="334951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지금 것을 쓴다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5010" y="1517904"/>
            <a:ext cx="4913589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그 사이 아이가 성장했다. 스냅샷 저장 구조를 만들지 않는다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38528"/>
            <a:ext cx="1118311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938528"/>
            <a:ext cx="29957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945" y="1938528"/>
            <a:ext cx="225466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이어하기 기한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4053" y="1938528"/>
            <a:ext cx="334951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최근 30일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5010" y="1938528"/>
            <a:ext cx="4913589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30일이 지나면 버튼만 사라진다. session_status 는 incomplete 유지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359152"/>
            <a:ext cx="1118311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359152"/>
            <a:ext cx="29957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945" y="2359152"/>
            <a:ext cx="225466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동시 노출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4053" y="2359152"/>
            <a:ext cx="334951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최신순 3일치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5010" y="2359152"/>
            <a:ext cx="4913589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더 보여주면 숙제 목록이 된다. 진행률순 정렬은 하지 않는다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779776"/>
            <a:ext cx="1118311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779776"/>
            <a:ext cx="29957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945" y="2779776"/>
            <a:ext cx="225466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완료 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4053" y="2779776"/>
            <a:ext cx="334951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10문제 채우면 completed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5010" y="2779776"/>
            <a:ext cx="4913589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세션마다 독립. 9/2 가 채워지면 9/2 만 완료가 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200400"/>
            <a:ext cx="1118311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200400"/>
            <a:ext cx="29957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945" y="3200400"/>
            <a:ext cx="225466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평가 반영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04053" y="3200400"/>
            <a:ext cx="334951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정상 반영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5010" y="3200400"/>
            <a:ext cx="4913589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Evaluation · LogicGap · StudentMemory 에 그대로 쌓인다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621024"/>
            <a:ext cx="1118311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621024"/>
            <a:ext cx="29957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945" y="3621024"/>
            <a:ext cx="225466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주간 리포트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04053" y="3621024"/>
            <a:ext cx="334951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3 (+7) 로 표기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5010" y="3621024"/>
            <a:ext cx="4913589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그날 푼 3 + 나중에 이어서 푼 7. 부모에게는 사실대로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041648"/>
            <a:ext cx="1118311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041648"/>
            <a:ext cx="29957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945" y="4041648"/>
            <a:ext cx="225466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동시 진행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04053" y="4041648"/>
            <a:ext cx="3349517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오늘 미션과 같이 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5010" y="4041648"/>
            <a:ext cx="4913589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active 세션이 2개가 된다 → 미션 화면에 날짜 표시가 필요해진다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297680"/>
            <a:ext cx="11183112" cy="1051560"/>
          </a:xfrm>
          <a:prstGeom prst="rect">
            <a:avLst/>
          </a:prstGeom>
          <a:solidFill>
            <a:srgbClr val="FFFAF0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407408"/>
            <a:ext cx="10881360" cy="8686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45309"/>
                </a:solidFill>
                <a:latin typeface="맑은 고딕"/>
              </a:rPr>
              <a:t>7번이 만드는 일 하나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B45309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B45309"/>
                </a:solidFill>
                <a:latin typeface="맑은 고딕"/>
              </a:rPr>
              <a:t>세션 두 개가 동시에 active 가 되므로, 미션 화면(MIS-001)에 지금 어느 날짜의 미션인지 표시해야 한다. 없으면 중간에 끊고 돌아왔을 때 아이가 어느 미션을 하고 있는지 모른다.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1~7 은 COM-001 §11 · §12 변경 사항이다. PM 전원 합의가 필요하다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MIS-001 · 미션 진행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날짜 표시 한 줄을 더한다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310896"/>
            <a:ext cx="2286000" cy="256032"/>
          </a:xfrm>
          <a:prstGeom prst="roundRect">
            <a:avLst>
              <a:gd name="adj" fmla="val 3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310896"/>
            <a:ext cx="2286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수정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오늘 미션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371600"/>
            <a:ext cx="239572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389888"/>
            <a:ext cx="153619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오늘의 미션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1389888"/>
            <a:ext cx="62179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2 /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1792224"/>
            <a:ext cx="219456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1865376"/>
            <a:ext cx="2011679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두 수를 더하면 얼마가 될까?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한번 풀어볼래?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80744" y="2432304"/>
            <a:ext cx="1691639" cy="347472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72184" y="2432304"/>
            <a:ext cx="150876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맑은 고딕"/>
              </a:rPr>
              <a:t>음… 7이요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" y="2871216"/>
            <a:ext cx="1691639" cy="530352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2926080"/>
            <a:ext cx="150876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왜 7이라고 생각했어?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어떻게 계산했는지 알려줄래?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" y="5376672"/>
            <a:ext cx="1627631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376672"/>
            <a:ext cx="1463039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답을 적어줘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9463" y="5376672"/>
            <a:ext cx="502920" cy="347472"/>
          </a:xfrm>
          <a:prstGeom prst="roundRect">
            <a:avLst>
              <a:gd name="adj" fmla="val 1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9463" y="5376672"/>
            <a:ext cx="50292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보내기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5887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604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이어하기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1371600"/>
            <a:ext cx="2395728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6744" y="1389888"/>
            <a:ext cx="153619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맑은 고딕"/>
              </a:rPr>
              <a:t>9월 2일 미션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4" y="1389888"/>
            <a:ext cx="62179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4 / 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66744" y="1792224"/>
            <a:ext cx="219456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58183" y="1865376"/>
            <a:ext cx="2011679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두 수를 더하면 얼마가 될까?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한번 풀어볼래?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9663" y="2432304"/>
            <a:ext cx="1691639" cy="347472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1104" y="2432304"/>
            <a:ext cx="150876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맑은 고딕"/>
              </a:rPr>
              <a:t>음… 7이요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66744" y="2871216"/>
            <a:ext cx="1691639" cy="530352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58183" y="2926080"/>
            <a:ext cx="150876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왜 7이라고 생각했어?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어떻게 계산했는지 알려줄래?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66744" y="5376672"/>
            <a:ext cx="1627631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76472" y="5376672"/>
            <a:ext cx="1463039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답을 적어줘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58384" y="5376672"/>
            <a:ext cx="502920" cy="347472"/>
          </a:xfrm>
          <a:prstGeom prst="roundRect">
            <a:avLst>
              <a:gd name="adj" fmla="val 1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58384" y="5376672"/>
            <a:ext cx="50292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보내기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1051560"/>
            <a:ext cx="528523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46520" y="1051560"/>
            <a:ext cx="45720" cy="10424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92824" y="1124712"/>
            <a:ext cx="501091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무엇이 달라지나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92824" y="1344168"/>
            <a:ext cx="501091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제목줄에 날짜가 붙는다. 오늘 미션이면 "오늘의 미션",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이어하기면 "9월 2일 미션" 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진행 숫자도 그 세션 기준이다.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2203704"/>
            <a:ext cx="528523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46520" y="2203704"/>
            <a:ext cx="45720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92824" y="2276856"/>
            <a:ext cx="501091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왜 필요한가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92824" y="2496312"/>
            <a:ext cx="5010912" cy="49377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오늘 미션과 이어하기를 동시에 열 수 있게 했다.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active 세션이 2개가 되므로 지금 어느 미션인지 알 수 없으면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중간에 끊고 돌아왔을 때 아이가 헷갈린다.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3172968"/>
            <a:ext cx="528523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46520" y="3172968"/>
            <a:ext cx="45720" cy="104241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92824" y="3246120"/>
            <a:ext cx="501091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나머지는 그대로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92824" y="3465576"/>
            <a:ext cx="501091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MIS-001 이 흡수하는 State 는 지금과 같다.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AI 생각 중 · 힌트 · 문제 완료 · 한 번 더 도전 · AI 오류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인터넷 끊김 · 중간 종료 확인 · 중단 문제 재개 · 전날 미션 재개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State / Modal 은 Route 로 만들지 않는다 (COM-003 §13-3)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집계는 두 축으로 나눈다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스키마 변경 없음. 지금 필드로 그대로 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5532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5532120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session_date 로 세는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051560"/>
            <a:ext cx="4114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그 날짜의 미션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53895"/>
            <a:ext cx="5212080" cy="1463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LearningSession.session_date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그 날짜 미션의 진행률  (3 / 10)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이어하기 대상인지 여부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완료 판정 (10 채우면 completed)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나의 학습 달력에 찍히는 숫자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051560"/>
            <a:ext cx="5532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051560"/>
            <a:ext cx="5532120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051560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Problem.created_at 으로 세는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51560"/>
            <a:ext cx="4114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실제로 푼 시각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453895"/>
            <a:ext cx="5212080" cy="1463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Problem.created_at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연속 학습일수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DAU · 리텐션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무료체험 D일 계산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· 주간 리포트의 "이번 주 학습" 판정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82112"/>
            <a:ext cx="11228832" cy="1005840"/>
          </a:xfrm>
          <a:prstGeom prst="rect">
            <a:avLst/>
          </a:prstGeom>
          <a:solidFill>
            <a:srgbClr val="F2F7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91840"/>
            <a:ext cx="1088136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9월 2일 세션을 9월 5일에 이어서 풀면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   "9월 2일 미션" 의 진행률은 올라가고,   "9월 5일에 학습했다" 로 집계된다.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15968"/>
            <a:ext cx="112288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315968"/>
            <a:ext cx="11228832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15968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3 (+7) 표기가 나오는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4315968"/>
            <a:ext cx="4114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추가 필드 없이 계산된다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0016"/>
            <a:ext cx="10881360" cy="7772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</a:rPr>
              <a:t>3    Problem.created_at 의 날짜  ==  session_date        그날 푼 것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444444"/>
                </a:solidFill>
                <a:latin typeface="맑은 고딕"/>
              </a:rPr>
              <a:t>+7   Problem.created_at 의 날짜  !=  session_date        나중에 이어서 푼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이 둘이 안 나뉘면 체험 기간 · 리텐션 · 연속 학습일수가 전부 어긋난다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부모 화면에는 사실대로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학생 어휘와 부모 어휘를 나눈다 (COM-003 §7)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주간 리포트 (부모)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주간 성장 리포트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1737360"/>
            <a:ext cx="219456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9월 1일 ~ 9월 7일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" y="2011679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2011679"/>
            <a:ext cx="77724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9/1 (월)</a:t>
            </a:r>
          </a:p>
        </p:txBody>
      </p:sp>
      <p:sp>
        <p:nvSpPr>
          <p:cNvPr id="17" name="Oval 16"/>
          <p:cNvSpPr/>
          <p:nvPr/>
        </p:nvSpPr>
        <p:spPr>
          <a:xfrm>
            <a:off x="1746504" y="213055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23313" y="213055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00123" y="213055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76932" y="213055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53742" y="213055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30552" y="213055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07361" y="213055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84171" y="213055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60980" y="213055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37790" y="213055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14015" y="2011679"/>
            <a:ext cx="566928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" y="2377439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2377439"/>
            <a:ext cx="77724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9/2 (화)</a:t>
            </a:r>
          </a:p>
        </p:txBody>
      </p:sp>
      <p:sp>
        <p:nvSpPr>
          <p:cNvPr id="30" name="Oval 29"/>
          <p:cNvSpPr/>
          <p:nvPr/>
        </p:nvSpPr>
        <p:spPr>
          <a:xfrm>
            <a:off x="1746504" y="249631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23313" y="249631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00123" y="249631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76932" y="249631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53742" y="249631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30552" y="249631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07361" y="249631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84171" y="249631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360980" y="249631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37790" y="249631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14015" y="2377439"/>
            <a:ext cx="566928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D4ED8"/>
                </a:solidFill>
                <a:latin typeface="맑은 고딕"/>
              </a:rPr>
              <a:t>3 (+7)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" y="2743199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" y="2743199"/>
            <a:ext cx="77724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9/3 (수)</a:t>
            </a:r>
          </a:p>
        </p:txBody>
      </p:sp>
      <p:sp>
        <p:nvSpPr>
          <p:cNvPr id="43" name="Oval 42"/>
          <p:cNvSpPr/>
          <p:nvPr/>
        </p:nvSpPr>
        <p:spPr>
          <a:xfrm>
            <a:off x="1746504" y="286207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3313" y="286207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00123" y="286207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976932" y="286207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53742" y="286207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30552" y="286207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207361" y="286207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284171" y="286207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60980" y="286207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437790" y="286207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14015" y="2743199"/>
            <a:ext cx="566928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" y="3108959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" y="3108959"/>
            <a:ext cx="77724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9/4 (목)</a:t>
            </a:r>
          </a:p>
        </p:txBody>
      </p:sp>
      <p:sp>
        <p:nvSpPr>
          <p:cNvPr id="56" name="Oval 55"/>
          <p:cNvSpPr/>
          <p:nvPr/>
        </p:nvSpPr>
        <p:spPr>
          <a:xfrm>
            <a:off x="1746504" y="322783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23313" y="322783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900123" y="322783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976932" y="322783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053742" y="322783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30552" y="3227831"/>
            <a:ext cx="56692" cy="566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207361" y="322783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284171" y="322783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360980" y="322783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437790" y="322783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14015" y="3108959"/>
            <a:ext cx="566928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7824" y="3474719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" y="3474719"/>
            <a:ext cx="77724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9/5 (금)</a:t>
            </a:r>
          </a:p>
        </p:txBody>
      </p:sp>
      <p:sp>
        <p:nvSpPr>
          <p:cNvPr id="69" name="Oval 68"/>
          <p:cNvSpPr/>
          <p:nvPr/>
        </p:nvSpPr>
        <p:spPr>
          <a:xfrm>
            <a:off x="1746504" y="359359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23313" y="359359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900123" y="359359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976932" y="359359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053742" y="359359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130552" y="359359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207361" y="359359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284171" y="359359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360980" y="359359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437790" y="3593591"/>
            <a:ext cx="56692" cy="56692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14015" y="3474719"/>
            <a:ext cx="566928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7824" y="3931919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자주 막힌 부분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77824" y="4169663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9264" y="4169663"/>
            <a:ext cx="1554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분수의 통분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05456" y="4169663"/>
            <a:ext cx="47548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11회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7824" y="4498847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9264" y="4498847"/>
            <a:ext cx="1554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약수와 배수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05456" y="4498847"/>
            <a:ext cx="47548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6회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7824" y="4828031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" y="4828031"/>
            <a:ext cx="1554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비와 비율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05456" y="4828031"/>
            <a:ext cx="47548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4회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0" y="1051560"/>
            <a:ext cx="80741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657600" y="1051560"/>
            <a:ext cx="45720" cy="67665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03904" y="1124712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개념명은 여기에 있다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03904" y="1344168"/>
            <a:ext cx="7799831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 화면에서 뺀 "분수의 통분 · 약수와 배수" 가 부모 화면에는 있다.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Problem.concept 을 지우는 게 아니라 노출 대상을 나누는 것이다.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0" y="1837943"/>
            <a:ext cx="80741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657600" y="1837943"/>
            <a:ext cx="4572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03904" y="1911095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3 (+7) 을 부모에게는 보여준다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03904" y="2130551"/>
            <a:ext cx="7799831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9/2 에 3문제를 풀고 나중에 7문제를 이어서 채웠다는 사실을 그대로 적는다.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10 으로 덮어쓰면 부모가 그날 아이가 뭘 했는지 알 수 없게 된다.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0" y="2624328"/>
            <a:ext cx="807415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657600" y="2624328"/>
            <a:ext cx="45720" cy="1225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803904" y="2697480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같은 상태, 다른 말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03904" y="2916936"/>
            <a:ext cx="7799831" cy="8595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내부 값               학생 화면            부모 화면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학습                미션 / 도전          학습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학습 결과           오늘의 기록          학습 결과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needs_review        한 번 더 도전        추가 학습 필요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 Evaluation·LogicGap 노출 안 함           사고능력 / 자주 막힌 부분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변환은 src/lib/constants/copy.ts 한 곳에서만 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고쳐야 할 문서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화면을 만들기 전에 이 순서로 합의한다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264490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2644902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25296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맑은 고딕"/>
              </a:rPr>
              <a:t>COM-001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499616"/>
            <a:ext cx="2352294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학습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28800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§11 세션 이어하기 규칙 7개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212848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§12 전날 미완 세션 처리 정정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596896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이어서 푼 문제의 평가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" y="3931920"/>
            <a:ext cx="235229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3931920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91C1C"/>
                </a:solidFill>
                <a:latin typeface="맑은 고딕"/>
              </a:rPr>
              <a:t>PM 전원 합의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990" y="1051560"/>
            <a:ext cx="264490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8990" y="1051560"/>
            <a:ext cx="2644902" cy="45720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5294" y="1225296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57F3D"/>
                </a:solidFill>
                <a:latin typeface="맑은 고딕"/>
              </a:rPr>
              <a:t>COM-002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5294" y="1499616"/>
            <a:ext cx="2352294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데이터 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5294" y="1828800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스키마 변경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5294" y="2212848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§5 에 집계 원칙만 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5294" y="2596896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session_date ↔ created_at 분리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5294" y="3931920"/>
            <a:ext cx="235229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5294" y="3931920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57F3D"/>
                </a:solidFill>
                <a:latin typeface="맑은 고딕"/>
              </a:rPr>
              <a:t>문구 추가만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5060" y="1051560"/>
            <a:ext cx="264490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5060" y="1051560"/>
            <a:ext cx="2644902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1364" y="1225296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맑은 고딕"/>
              </a:rPr>
              <a:t>COM-003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1364" y="1499616"/>
            <a:ext cx="2352294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화면 ·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1364" y="1828800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STU-006 나의 학습 신설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1364" y="2212848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STU-004 진입점 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1364" y="2596896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MIS-001 날짜 표시 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1364" y="2980944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§7 에 개념명 비노출 규칙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1364" y="3364991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§12 합계 35 → 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41364" y="3931920"/>
            <a:ext cx="235229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1364" y="3931920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91C1C"/>
                </a:solidFill>
                <a:latin typeface="맑은 고딕"/>
              </a:rPr>
              <a:t>PM 전원 합의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41130" y="1051560"/>
            <a:ext cx="264490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41130" y="1051560"/>
            <a:ext cx="2644902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7434" y="1225296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4ED8"/>
                </a:solidFill>
                <a:latin typeface="맑은 고딕"/>
              </a:rPr>
              <a:t>DEV-002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7434" y="1499616"/>
            <a:ext cx="2352294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Route 매핑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7434" y="1828800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/home/history 추가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7434" y="2212848"/>
            <a:ext cx="2352294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합계 검증표 갱신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7434" y="3931920"/>
            <a:ext cx="235229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7434" y="3931920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D4ED8"/>
                </a:solidFill>
                <a:latin typeface="맑은 고딕"/>
              </a:rPr>
              <a:t>COM-003 확정 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526280"/>
            <a:ext cx="11183112" cy="9601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626864"/>
            <a:ext cx="10881360" cy="7772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순서를 지켜야 하는 이유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COM-003 부터 손대면 COM-001 결과에 따라 화면이 폐기될 수 있다. 화면 수가 35에서 36으로 바뀌므로 DEV-002 합계 검증도 함께 고쳐야 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구현은 문서 확정 후. 지금은 코드를 만들지 않는다 (CLAUDE.md · COM-003 §13-9)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